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0" r:id="rId2"/>
    <p:sldId id="261" r:id="rId3"/>
    <p:sldId id="257" r:id="rId4"/>
    <p:sldId id="259" r:id="rId5"/>
    <p:sldId id="262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162A"/>
    <a:srgbClr val="1C386A"/>
    <a:srgbClr val="EBEBEB"/>
    <a:srgbClr val="E1E1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569" autoAdjust="0"/>
  </p:normalViewPr>
  <p:slideViewPr>
    <p:cSldViewPr snapToGrid="0">
      <p:cViewPr varScale="1">
        <p:scale>
          <a:sx n="107" d="100"/>
          <a:sy n="107" d="100"/>
        </p:scale>
        <p:origin x="15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 값</c:v>
                </c:pt>
              </c:strCache>
            </c:strRef>
          </c:tx>
          <c:spPr>
            <a:ln w="76200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xVal>
            <c:numRef>
              <c:f>Sheet1!$A$2:$A$82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-2.2999999999999998</c:v>
                </c:pt>
                <c:pt idx="18">
                  <c:v>-2.2000000000000002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-1.1000000000000001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0.1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1.1000000000000001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</c:v>
                </c:pt>
                <c:pt idx="56">
                  <c:v>1.6</c:v>
                </c:pt>
                <c:pt idx="57">
                  <c:v>1.7</c:v>
                </c:pt>
                <c:pt idx="58">
                  <c:v>1.8</c:v>
                </c:pt>
                <c:pt idx="59">
                  <c:v>1.9</c:v>
                </c:pt>
                <c:pt idx="60">
                  <c:v>2</c:v>
                </c:pt>
                <c:pt idx="61">
                  <c:v>2.1</c:v>
                </c:pt>
                <c:pt idx="62">
                  <c:v>2.2000000000000002</c:v>
                </c:pt>
                <c:pt idx="63">
                  <c:v>2.2999999999999998</c:v>
                </c:pt>
                <c:pt idx="64">
                  <c:v>2.4</c:v>
                </c:pt>
                <c:pt idx="65">
                  <c:v>2.5</c:v>
                </c:pt>
                <c:pt idx="66">
                  <c:v>2.6</c:v>
                </c:pt>
                <c:pt idx="67">
                  <c:v>2.7</c:v>
                </c:pt>
                <c:pt idx="68">
                  <c:v>2.8</c:v>
                </c:pt>
                <c:pt idx="69">
                  <c:v>2.9</c:v>
                </c:pt>
                <c:pt idx="70">
                  <c:v>3</c:v>
                </c:pt>
                <c:pt idx="71">
                  <c:v>3.1</c:v>
                </c:pt>
                <c:pt idx="72">
                  <c:v>3.2</c:v>
                </c:pt>
                <c:pt idx="73">
                  <c:v>3.3</c:v>
                </c:pt>
                <c:pt idx="74">
                  <c:v>3.4</c:v>
                </c:pt>
                <c:pt idx="75">
                  <c:v>3.5</c:v>
                </c:pt>
                <c:pt idx="76">
                  <c:v>3.6</c:v>
                </c:pt>
                <c:pt idx="77">
                  <c:v>3.7</c:v>
                </c:pt>
                <c:pt idx="78">
                  <c:v>3.8</c:v>
                </c:pt>
                <c:pt idx="79">
                  <c:v>3.9</c:v>
                </c:pt>
                <c:pt idx="80">
                  <c:v>4</c:v>
                </c:pt>
              </c:numCache>
            </c:numRef>
          </c:xVal>
          <c:yVal>
            <c:numRef>
              <c:f>Sheet1!$B$2:$B$82</c:f>
              <c:numCache>
                <c:formatCode>General</c:formatCode>
                <c:ptCount val="81"/>
                <c:pt idx="0">
                  <c:v>1.3383000000000001E-4</c:v>
                </c:pt>
                <c:pt idx="1">
                  <c:v>1.98655E-4</c:v>
                </c:pt>
                <c:pt idx="2">
                  <c:v>2.9194699999999997E-4</c:v>
                </c:pt>
                <c:pt idx="3">
                  <c:v>4.2477999999999998E-4</c:v>
                </c:pt>
                <c:pt idx="4">
                  <c:v>6.11902E-4</c:v>
                </c:pt>
                <c:pt idx="5">
                  <c:v>8.7268299999999997E-4</c:v>
                </c:pt>
                <c:pt idx="6">
                  <c:v>1.2322189999999999E-3</c:v>
                </c:pt>
                <c:pt idx="7">
                  <c:v>1.722569E-3</c:v>
                </c:pt>
                <c:pt idx="8">
                  <c:v>2.3840879999999999E-3</c:v>
                </c:pt>
                <c:pt idx="9">
                  <c:v>3.2668189999999998E-3</c:v>
                </c:pt>
                <c:pt idx="10">
                  <c:v>4.4318480000000004E-3</c:v>
                </c:pt>
                <c:pt idx="11">
                  <c:v>5.952532E-3</c:v>
                </c:pt>
                <c:pt idx="12">
                  <c:v>7.9154519999999999E-3</c:v>
                </c:pt>
                <c:pt idx="13">
                  <c:v>1.0420934999999999E-2</c:v>
                </c:pt>
                <c:pt idx="14">
                  <c:v>1.3582969E-2</c:v>
                </c:pt>
                <c:pt idx="15">
                  <c:v>1.75283E-2</c:v>
                </c:pt>
                <c:pt idx="16">
                  <c:v>2.2394529999999999E-2</c:v>
                </c:pt>
                <c:pt idx="17">
                  <c:v>2.8327037999999999E-2</c:v>
                </c:pt>
                <c:pt idx="18">
                  <c:v>3.5474592999999999E-2</c:v>
                </c:pt>
                <c:pt idx="19">
                  <c:v>4.3983596E-2</c:v>
                </c:pt>
                <c:pt idx="20">
                  <c:v>5.3990967000000001E-2</c:v>
                </c:pt>
                <c:pt idx="21">
                  <c:v>6.5615814999999994E-2</c:v>
                </c:pt>
                <c:pt idx="22">
                  <c:v>7.8950158000000006E-2</c:v>
                </c:pt>
                <c:pt idx="23">
                  <c:v>9.4049076999999995E-2</c:v>
                </c:pt>
                <c:pt idx="24">
                  <c:v>0.110920835</c:v>
                </c:pt>
                <c:pt idx="25">
                  <c:v>0.12951759600000001</c:v>
                </c:pt>
                <c:pt idx="26">
                  <c:v>0.149727466</c:v>
                </c:pt>
                <c:pt idx="27">
                  <c:v>0.17136859199999999</c:v>
                </c:pt>
                <c:pt idx="28">
                  <c:v>0.194186055</c:v>
                </c:pt>
                <c:pt idx="29">
                  <c:v>0.21785217700000001</c:v>
                </c:pt>
                <c:pt idx="30">
                  <c:v>0.241970725</c:v>
                </c:pt>
                <c:pt idx="31">
                  <c:v>0.26608525</c:v>
                </c:pt>
                <c:pt idx="32">
                  <c:v>0.28969155299999999</c:v>
                </c:pt>
                <c:pt idx="33">
                  <c:v>0.31225393299999998</c:v>
                </c:pt>
                <c:pt idx="34">
                  <c:v>0.33322460300000001</c:v>
                </c:pt>
                <c:pt idx="35">
                  <c:v>0.35206532699999998</c:v>
                </c:pt>
                <c:pt idx="36">
                  <c:v>0.36827014000000002</c:v>
                </c:pt>
                <c:pt idx="37">
                  <c:v>0.38138781500000002</c:v>
                </c:pt>
                <c:pt idx="38">
                  <c:v>0.39104269400000002</c:v>
                </c:pt>
                <c:pt idx="39">
                  <c:v>0.39695254699999999</c:v>
                </c:pt>
                <c:pt idx="40">
                  <c:v>0.39894227999999998</c:v>
                </c:pt>
                <c:pt idx="41">
                  <c:v>0.39695254699999999</c:v>
                </c:pt>
                <c:pt idx="42">
                  <c:v>0.39104269400000002</c:v>
                </c:pt>
                <c:pt idx="43">
                  <c:v>0.38138781500000002</c:v>
                </c:pt>
                <c:pt idx="44">
                  <c:v>0.36827014000000002</c:v>
                </c:pt>
                <c:pt idx="45">
                  <c:v>0.35206532699999998</c:v>
                </c:pt>
                <c:pt idx="46">
                  <c:v>0.33322460300000001</c:v>
                </c:pt>
                <c:pt idx="47">
                  <c:v>0.31225393299999998</c:v>
                </c:pt>
                <c:pt idx="48">
                  <c:v>0.28969155299999999</c:v>
                </c:pt>
                <c:pt idx="49">
                  <c:v>0.26608525</c:v>
                </c:pt>
                <c:pt idx="50">
                  <c:v>0.241970725</c:v>
                </c:pt>
                <c:pt idx="51">
                  <c:v>0.21785217700000001</c:v>
                </c:pt>
                <c:pt idx="52">
                  <c:v>0.194186055</c:v>
                </c:pt>
                <c:pt idx="53">
                  <c:v>0.17136859199999999</c:v>
                </c:pt>
                <c:pt idx="54">
                  <c:v>0.149727466</c:v>
                </c:pt>
                <c:pt idx="55">
                  <c:v>0.12951759600000001</c:v>
                </c:pt>
                <c:pt idx="56">
                  <c:v>0.110920835</c:v>
                </c:pt>
                <c:pt idx="57">
                  <c:v>9.4049076999999995E-2</c:v>
                </c:pt>
                <c:pt idx="58">
                  <c:v>7.8950158000000006E-2</c:v>
                </c:pt>
                <c:pt idx="59">
                  <c:v>6.5615814999999994E-2</c:v>
                </c:pt>
                <c:pt idx="60">
                  <c:v>5.3990967000000001E-2</c:v>
                </c:pt>
                <c:pt idx="61">
                  <c:v>4.3983596E-2</c:v>
                </c:pt>
                <c:pt idx="62">
                  <c:v>3.5474592999999999E-2</c:v>
                </c:pt>
                <c:pt idx="63">
                  <c:v>2.8327037999999999E-2</c:v>
                </c:pt>
                <c:pt idx="64">
                  <c:v>2.2394529999999999E-2</c:v>
                </c:pt>
                <c:pt idx="65">
                  <c:v>1.75283E-2</c:v>
                </c:pt>
                <c:pt idx="66">
                  <c:v>1.3582969E-2</c:v>
                </c:pt>
                <c:pt idx="67">
                  <c:v>1.0420934999999999E-2</c:v>
                </c:pt>
                <c:pt idx="68">
                  <c:v>7.9154519999999999E-3</c:v>
                </c:pt>
                <c:pt idx="69">
                  <c:v>5.952532E-3</c:v>
                </c:pt>
                <c:pt idx="70">
                  <c:v>4.4318480000000004E-3</c:v>
                </c:pt>
                <c:pt idx="71">
                  <c:v>3.2668189999999998E-3</c:v>
                </c:pt>
                <c:pt idx="72">
                  <c:v>2.3840879999999999E-3</c:v>
                </c:pt>
                <c:pt idx="73">
                  <c:v>1.722569E-3</c:v>
                </c:pt>
                <c:pt idx="74">
                  <c:v>1.2322189999999999E-3</c:v>
                </c:pt>
                <c:pt idx="75">
                  <c:v>8.7268299999999997E-4</c:v>
                </c:pt>
                <c:pt idx="76">
                  <c:v>6.11902E-4</c:v>
                </c:pt>
                <c:pt idx="77">
                  <c:v>4.2477999999999998E-4</c:v>
                </c:pt>
                <c:pt idx="78">
                  <c:v>2.9194699999999997E-4</c:v>
                </c:pt>
                <c:pt idx="79">
                  <c:v>1.98655E-4</c:v>
                </c:pt>
                <c:pt idx="80">
                  <c:v>1.3383000000000001E-4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5D55-42BC-9CFB-59D8D4934F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42940352"/>
        <c:axId val="1242940768"/>
      </c:scatterChart>
      <c:valAx>
        <c:axId val="124294035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242940768"/>
        <c:crosses val="autoZero"/>
        <c:crossBetween val="midCat"/>
      </c:valAx>
      <c:valAx>
        <c:axId val="1242940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42940352"/>
        <c:crosses val="autoZero"/>
        <c:crossBetween val="midCat"/>
      </c:valAx>
      <c:spPr>
        <a:noFill/>
        <a:ln w="762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6874999999999998E-3"/>
          <c:y val="3.2812497981514643E-2"/>
          <c:w val="0.96562499999999996"/>
          <c:h val="0.94843750317190556"/>
        </c:manualLayout>
      </c:layout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 값</c:v>
                </c:pt>
              </c:strCache>
            </c:strRef>
          </c:tx>
          <c:spPr>
            <a:ln w="7620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Sheet1!$A$2:$A$82</c:f>
              <c:numCache>
                <c:formatCode>General</c:formatCode>
                <c:ptCount val="81"/>
                <c:pt idx="0">
                  <c:v>-2</c:v>
                </c:pt>
                <c:pt idx="1">
                  <c:v>-1.9</c:v>
                </c:pt>
                <c:pt idx="2">
                  <c:v>-1.8</c:v>
                </c:pt>
                <c:pt idx="3">
                  <c:v>-1.7</c:v>
                </c:pt>
                <c:pt idx="4">
                  <c:v>-1.6</c:v>
                </c:pt>
                <c:pt idx="5">
                  <c:v>-1.5</c:v>
                </c:pt>
                <c:pt idx="6">
                  <c:v>-1.4</c:v>
                </c:pt>
                <c:pt idx="7">
                  <c:v>-1.3</c:v>
                </c:pt>
                <c:pt idx="8">
                  <c:v>-1.2</c:v>
                </c:pt>
                <c:pt idx="9">
                  <c:v>-1.1000000000000001</c:v>
                </c:pt>
                <c:pt idx="10">
                  <c:v>-1</c:v>
                </c:pt>
                <c:pt idx="11">
                  <c:v>-0.9</c:v>
                </c:pt>
                <c:pt idx="12">
                  <c:v>-0.8</c:v>
                </c:pt>
                <c:pt idx="13">
                  <c:v>-0.7</c:v>
                </c:pt>
                <c:pt idx="14">
                  <c:v>-0.6</c:v>
                </c:pt>
                <c:pt idx="15">
                  <c:v>-0.5</c:v>
                </c:pt>
                <c:pt idx="16">
                  <c:v>-0.4</c:v>
                </c:pt>
                <c:pt idx="17">
                  <c:v>-0.3</c:v>
                </c:pt>
                <c:pt idx="18">
                  <c:v>-0.2</c:v>
                </c:pt>
                <c:pt idx="19">
                  <c:v>-0.1</c:v>
                </c:pt>
                <c:pt idx="20">
                  <c:v>0</c:v>
                </c:pt>
                <c:pt idx="21">
                  <c:v>0.1</c:v>
                </c:pt>
                <c:pt idx="22">
                  <c:v>0.2</c:v>
                </c:pt>
                <c:pt idx="23">
                  <c:v>0.3</c:v>
                </c:pt>
                <c:pt idx="24">
                  <c:v>0.4</c:v>
                </c:pt>
                <c:pt idx="25">
                  <c:v>0.5</c:v>
                </c:pt>
                <c:pt idx="26">
                  <c:v>0.6</c:v>
                </c:pt>
                <c:pt idx="27">
                  <c:v>0.7</c:v>
                </c:pt>
                <c:pt idx="28">
                  <c:v>0.8</c:v>
                </c:pt>
                <c:pt idx="29">
                  <c:v>0.9</c:v>
                </c:pt>
                <c:pt idx="30">
                  <c:v>1</c:v>
                </c:pt>
                <c:pt idx="31">
                  <c:v>1.1000000000000001</c:v>
                </c:pt>
                <c:pt idx="32">
                  <c:v>1.2</c:v>
                </c:pt>
                <c:pt idx="33">
                  <c:v>1.3</c:v>
                </c:pt>
                <c:pt idx="34">
                  <c:v>1.4</c:v>
                </c:pt>
                <c:pt idx="35">
                  <c:v>1.5</c:v>
                </c:pt>
                <c:pt idx="36">
                  <c:v>1.6</c:v>
                </c:pt>
                <c:pt idx="37">
                  <c:v>1.7</c:v>
                </c:pt>
                <c:pt idx="38">
                  <c:v>1.8</c:v>
                </c:pt>
                <c:pt idx="39">
                  <c:v>1.9</c:v>
                </c:pt>
                <c:pt idx="40">
                  <c:v>2</c:v>
                </c:pt>
              </c:numCache>
            </c:numRef>
          </c:xVal>
          <c:yVal>
            <c:numRef>
              <c:f>Sheet1!$B$2:$B$82</c:f>
              <c:numCache>
                <c:formatCode>General</c:formatCode>
                <c:ptCount val="81"/>
                <c:pt idx="0">
                  <c:v>5.3990967000000001E-2</c:v>
                </c:pt>
                <c:pt idx="1">
                  <c:v>6.5615814999999994E-2</c:v>
                </c:pt>
                <c:pt idx="2">
                  <c:v>7.8950158000000006E-2</c:v>
                </c:pt>
                <c:pt idx="3">
                  <c:v>9.4049076999999995E-2</c:v>
                </c:pt>
                <c:pt idx="4">
                  <c:v>0.110920835</c:v>
                </c:pt>
                <c:pt idx="5">
                  <c:v>0.12951759600000001</c:v>
                </c:pt>
                <c:pt idx="6">
                  <c:v>0.149727466</c:v>
                </c:pt>
                <c:pt idx="7">
                  <c:v>0.17136859199999999</c:v>
                </c:pt>
                <c:pt idx="8">
                  <c:v>0.194186055</c:v>
                </c:pt>
                <c:pt idx="9">
                  <c:v>0.21785217700000001</c:v>
                </c:pt>
                <c:pt idx="10">
                  <c:v>0.241970725</c:v>
                </c:pt>
                <c:pt idx="11">
                  <c:v>0.26608525</c:v>
                </c:pt>
                <c:pt idx="12">
                  <c:v>0.28969155299999999</c:v>
                </c:pt>
                <c:pt idx="13">
                  <c:v>0.31225393299999998</c:v>
                </c:pt>
                <c:pt idx="14">
                  <c:v>0.33322460300000001</c:v>
                </c:pt>
                <c:pt idx="15">
                  <c:v>0.35206532699999998</c:v>
                </c:pt>
                <c:pt idx="16">
                  <c:v>0.36827014000000002</c:v>
                </c:pt>
                <c:pt idx="17">
                  <c:v>0.38138781500000002</c:v>
                </c:pt>
                <c:pt idx="18">
                  <c:v>0.39104269400000002</c:v>
                </c:pt>
                <c:pt idx="19">
                  <c:v>0.39695254699999999</c:v>
                </c:pt>
                <c:pt idx="20">
                  <c:v>0.39894227999999998</c:v>
                </c:pt>
                <c:pt idx="21">
                  <c:v>0.39695254699999999</c:v>
                </c:pt>
                <c:pt idx="22">
                  <c:v>0.39104269400000002</c:v>
                </c:pt>
                <c:pt idx="23">
                  <c:v>0.38138781500000002</c:v>
                </c:pt>
                <c:pt idx="24">
                  <c:v>0.36827014000000002</c:v>
                </c:pt>
                <c:pt idx="25">
                  <c:v>0.35206532699999998</c:v>
                </c:pt>
                <c:pt idx="26">
                  <c:v>0.33322460300000001</c:v>
                </c:pt>
                <c:pt idx="27">
                  <c:v>0.31225393299999998</c:v>
                </c:pt>
                <c:pt idx="28">
                  <c:v>0.28969155299999999</c:v>
                </c:pt>
                <c:pt idx="29">
                  <c:v>0.26608525</c:v>
                </c:pt>
                <c:pt idx="30">
                  <c:v>0.241970725</c:v>
                </c:pt>
                <c:pt idx="31">
                  <c:v>0.21785217700000001</c:v>
                </c:pt>
                <c:pt idx="32">
                  <c:v>0.194186055</c:v>
                </c:pt>
                <c:pt idx="33">
                  <c:v>0.17136859199999999</c:v>
                </c:pt>
                <c:pt idx="34">
                  <c:v>0.149727466</c:v>
                </c:pt>
                <c:pt idx="35">
                  <c:v>0.12951759600000001</c:v>
                </c:pt>
                <c:pt idx="36">
                  <c:v>0.110920835</c:v>
                </c:pt>
                <c:pt idx="37">
                  <c:v>9.4049076999999995E-2</c:v>
                </c:pt>
                <c:pt idx="38">
                  <c:v>7.8950158000000006E-2</c:v>
                </c:pt>
                <c:pt idx="39">
                  <c:v>6.5615814999999994E-2</c:v>
                </c:pt>
                <c:pt idx="40">
                  <c:v>5.3990967000000001E-2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AE49-4FF8-BD42-F10225C282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42940352"/>
        <c:axId val="1242940768"/>
      </c:scatterChart>
      <c:valAx>
        <c:axId val="124294035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242940768"/>
        <c:crosses val="autoZero"/>
        <c:crossBetween val="midCat"/>
      </c:valAx>
      <c:valAx>
        <c:axId val="1242940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4294035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87D76C-43FD-4852-83B7-35BFA4370C41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AD4081-B1C9-4876-B860-47D4C78872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6502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D4081-B1C9-4876-B860-47D4C788726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55116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D4081-B1C9-4876-B860-47D4C788726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67888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D4081-B1C9-4876-B860-47D4C788726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74020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D4081-B1C9-4876-B860-47D4C7887261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36439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D4081-B1C9-4876-B860-47D4C7887261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27777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D4081-B1C9-4876-B860-47D4C7887261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02126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D4081-B1C9-4876-B860-47D4C7887261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7021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E06863-0208-49FB-BB8B-1EC5AD2B85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3C01565-122E-4DE2-872A-DD3EEAA034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BA2EDC-B32B-4C96-9DEE-ACD849C8A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CFD35-876C-48C1-8621-E78CA9DEACC6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5EFA75-0A17-4B5D-B31B-1BE1B4CCB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A35CC1-0363-4A97-8F09-5A12A5450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35D8-D68A-4454-B5BA-B9DC565832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6481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2AA7C8-82FB-47C1-8A6C-83A55BC9F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487C57-432E-4B4D-9B60-3F1E54763D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1E4E97-54AC-4ADB-8021-F27CCA3E4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CFD35-876C-48C1-8621-E78CA9DEACC6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FD9F2C-D394-4CD1-A334-CED45AECA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7586D8-7E3E-44E0-8B67-5F3D47A30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35D8-D68A-4454-B5BA-B9DC565832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6674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ADA291-FC44-4531-B6AB-FB93B7D14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E6644E8-BC1E-4C71-A34C-54716B3DA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FF52E0-447C-43DD-A05F-F8547176E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CFD35-876C-48C1-8621-E78CA9DEACC6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6442D1-AB8C-47D9-ABED-43B96F123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9579EE-6E51-4624-823B-50DFCA1D5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35D8-D68A-4454-B5BA-B9DC565832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3461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79F745-B6C6-4B16-BD14-2B36BFD29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F2B456-F0D9-4459-9C9C-A1532B1B7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1FA54F5-3993-4A95-BC16-2B20AE459C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3BE4E8D-F3FD-4BAF-B5C5-F4A7C5DAE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CFD35-876C-48C1-8621-E78CA9DEACC6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DF53A49-81B9-4636-8782-27B16C118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648E208-BDE7-46C0-9CC7-7785A3897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35D8-D68A-4454-B5BA-B9DC565832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9513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B79F94-0552-4093-B4CD-2059E58FC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D05DAB-5459-4CE3-A5BC-EE75BEA1A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1739DA2-F854-468E-8D89-12F03D5EF6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3076C17-2BAC-4333-B678-07E61FD686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0A6986B-E69B-4B12-B0EB-BA2647D597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73021E5-69E3-4FA4-B70A-2F1F59B3A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CFD35-876C-48C1-8621-E78CA9DEACC6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72FA30F-F9A1-4F0C-9BEC-5303B2B54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EEDA207-58D1-4613-BAFF-FAD634E00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35D8-D68A-4454-B5BA-B9DC565832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2510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46DFE0-386A-4BD8-9CE9-1A0C26869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8E9B57A-5790-4BB7-800B-1EBA6D6C7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CFD35-876C-48C1-8621-E78CA9DEACC6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E95C401-3C5B-41EF-A6B3-AF9A82EFD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C9E51B0-8E23-4BF9-9E97-EFB9DD542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35D8-D68A-4454-B5BA-B9DC565832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9683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0EECAE5-C8CE-4B5F-A89F-4F2098B14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CFD35-876C-48C1-8621-E78CA9DEACC6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289B51F-721F-4E44-B830-290524FDF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4EBAB7-5C2E-401B-B1CB-78ED6CA1B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35D8-D68A-4454-B5BA-B9DC565832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4567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4E3909-6E3A-4851-ABEB-EB9FE5AB8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45B9E5-9240-4578-80EE-D70E49967C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CDB4425-47AB-4B58-A1DF-CA7B6B0FA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A7BF092-F68F-41C4-9A2D-57D4DD730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CFD35-876C-48C1-8621-E78CA9DEACC6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D334780-760A-4E49-8F92-01757BFDA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853F01-A607-492F-BFA2-A0963C79B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35D8-D68A-4454-B5BA-B9DC565832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0220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0E7D72-2C4B-4C2C-82A2-09130C129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FFBE1C9-5F1A-48E6-8F32-52C5CB6870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066BC56-79EE-4F9F-8F6E-BBF6887686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4E388C-0CAA-4829-9D66-A6817DC1E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CFD35-876C-48C1-8621-E78CA9DEACC6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00CEFF0-5167-40C9-BE94-E5BB361FC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F6A50B9-C63A-4986-867A-73643CBE1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35D8-D68A-4454-B5BA-B9DC565832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016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15BCAA-D50B-4A0C-B501-633227514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5A09A06-E126-49C8-97FF-B2798A4131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DA365A-E084-4F32-9F7E-FEAAB596D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CFD35-876C-48C1-8621-E78CA9DEACC6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1EB2A3-69AD-4CD8-B749-C9425DFC4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CC1862-D2D1-41A7-9B2C-C49F1B39F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35D8-D68A-4454-B5BA-B9DC565832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8526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D1A7096-856B-47C8-93FA-45C015BFB9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4930FEB-5C65-4E5D-8468-2F5630BEA2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069E91-22B5-43CF-AE70-73317980F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CFD35-876C-48C1-8621-E78CA9DEACC6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8B9735-F1A5-4D01-B2E7-19075F536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0D776D-75A0-43D8-B50C-1DC677982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35D8-D68A-4454-B5BA-B9DC565832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2798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48BBBFA-BB6D-4E3E-8BEC-539425196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616F86-E73A-40F7-B5FC-A581388756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727A03-0A5B-4EAC-A2FF-44AFE103D1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3CFD35-876C-48C1-8621-E78CA9DEACC6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7B22A7-02D9-42BC-9B55-B5921CBE28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ECADC8-DC8E-4BFC-A969-8146426F30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D035D8-D68A-4454-B5BA-B9DC565832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393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9FE0405-927D-48B0-A535-9C43E9D15F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443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5D657394-9BC0-4563-BF65-2FE099E6AD39}"/>
              </a:ext>
            </a:extLst>
          </p:cNvPr>
          <p:cNvGrpSpPr/>
          <p:nvPr/>
        </p:nvGrpSpPr>
        <p:grpSpPr>
          <a:xfrm>
            <a:off x="3445276" y="1891122"/>
            <a:ext cx="5301451" cy="1846660"/>
            <a:chOff x="2764941" y="1891122"/>
            <a:chExt cx="5301451" cy="184666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6C270D0-392B-460A-861A-5437A9B78028}"/>
                </a:ext>
              </a:extLst>
            </p:cNvPr>
            <p:cNvSpPr txBox="1"/>
            <p:nvPr/>
          </p:nvSpPr>
          <p:spPr>
            <a:xfrm>
              <a:off x="3063099" y="1891122"/>
              <a:ext cx="4705134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5400" dirty="0">
                  <a:solidFill>
                    <a:schemeClr val="bg1"/>
                  </a:solidFill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rPr>
                <a:t>가중치 누적 차감</a:t>
              </a:r>
              <a:endParaRPr lang="en-US" altLang="ko-KR" sz="54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0432404-165C-481C-9C6F-5A5965270E45}"/>
                </a:ext>
              </a:extLst>
            </p:cNvPr>
            <p:cNvSpPr txBox="1"/>
            <p:nvPr/>
          </p:nvSpPr>
          <p:spPr>
            <a:xfrm>
              <a:off x="2764941" y="2814452"/>
              <a:ext cx="5301451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5400" dirty="0">
                  <a:gradFill flip="none" rotWithShape="1">
                    <a:gsLst>
                      <a:gs pos="0">
                        <a:schemeClr val="accent5">
                          <a:lumMod val="89000"/>
                        </a:schemeClr>
                      </a:gs>
                      <a:gs pos="97000">
                        <a:schemeClr val="accent6"/>
                      </a:gs>
                    </a:gsLst>
                    <a:lin ang="0" scaled="1"/>
                    <a:tileRect/>
                  </a:gradFill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rPr>
                <a:t>아이템 드롭 시스템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2FBA7187-3EA7-4EB1-927B-9D5423A98011}"/>
              </a:ext>
            </a:extLst>
          </p:cNvPr>
          <p:cNvSpPr txBox="1"/>
          <p:nvPr/>
        </p:nvSpPr>
        <p:spPr>
          <a:xfrm>
            <a:off x="4165024" y="4107114"/>
            <a:ext cx="3861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tx2">
                    <a:lumMod val="40000"/>
                    <a:lumOff val="6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가중치 누적 차감 </a:t>
            </a:r>
            <a:r>
              <a:rPr lang="en-US" altLang="ko-KR" dirty="0">
                <a:solidFill>
                  <a:schemeClr val="tx2">
                    <a:lumMod val="40000"/>
                    <a:lumOff val="6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X </a:t>
            </a:r>
            <a:r>
              <a:rPr lang="ko-KR" altLang="en-US" dirty="0">
                <a:solidFill>
                  <a:schemeClr val="tx2">
                    <a:lumMod val="40000"/>
                    <a:lumOff val="6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정규분포 시너지 전략</a:t>
            </a:r>
            <a:endParaRPr lang="ko-KR" altLang="en-US" sz="1800" dirty="0">
              <a:solidFill>
                <a:schemeClr val="tx2">
                  <a:lumMod val="40000"/>
                  <a:lumOff val="60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30FBEA-5552-43EE-973C-BFD1EA5F04D1}"/>
              </a:ext>
            </a:extLst>
          </p:cNvPr>
          <p:cNvSpPr txBox="1"/>
          <p:nvPr/>
        </p:nvSpPr>
        <p:spPr>
          <a:xfrm>
            <a:off x="5487501" y="5186977"/>
            <a:ext cx="12170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 err="1">
                <a:solidFill>
                  <a:srgbClr val="92D05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김감자르반</a:t>
            </a:r>
            <a:r>
              <a:rPr lang="en-US" altLang="ko-KR" sz="1400" dirty="0">
                <a:solidFill>
                  <a:srgbClr val="92D05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4</a:t>
            </a:r>
            <a:r>
              <a:rPr lang="ko-KR" altLang="en-US" sz="1400" dirty="0">
                <a:solidFill>
                  <a:srgbClr val="92D05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세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D45B9266-F53B-4B21-A219-03D3F6A495BF}"/>
              </a:ext>
            </a:extLst>
          </p:cNvPr>
          <p:cNvCxnSpPr>
            <a:cxnSpLocks/>
          </p:cNvCxnSpPr>
          <p:nvPr/>
        </p:nvCxnSpPr>
        <p:spPr>
          <a:xfrm>
            <a:off x="930234" y="4821382"/>
            <a:ext cx="1042653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63AF581E-80F2-4B85-BDF5-7FF5235DC9FF}"/>
              </a:ext>
            </a:extLst>
          </p:cNvPr>
          <p:cNvCxnSpPr>
            <a:cxnSpLocks/>
          </p:cNvCxnSpPr>
          <p:nvPr/>
        </p:nvCxnSpPr>
        <p:spPr>
          <a:xfrm>
            <a:off x="930234" y="6555180"/>
            <a:ext cx="10426535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0381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57C11D5-3EFA-471C-9916-B4A23693C69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443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8C17D7-5C04-43AB-8DB6-72AE06BD714A}"/>
              </a:ext>
            </a:extLst>
          </p:cNvPr>
          <p:cNvSpPr txBox="1"/>
          <p:nvPr/>
        </p:nvSpPr>
        <p:spPr>
          <a:xfrm>
            <a:off x="318439" y="434882"/>
            <a:ext cx="34756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solidFill>
                  <a:srgbClr val="00B0F0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정규분포</a:t>
            </a:r>
            <a:r>
              <a:rPr lang="ko-KR" altLang="en-US" sz="28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의 실무적 활용</a:t>
            </a:r>
          </a:p>
        </p:txBody>
      </p:sp>
      <p:graphicFrame>
        <p:nvGraphicFramePr>
          <p:cNvPr id="33" name="차트 32">
            <a:extLst>
              <a:ext uri="{FF2B5EF4-FFF2-40B4-BE49-F238E27FC236}">
                <a16:creationId xmlns:a16="http://schemas.microsoft.com/office/drawing/2014/main" id="{0D339C5C-95B8-438F-8397-EFA51A7530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8441372"/>
              </p:ext>
            </p:extLst>
          </p:nvPr>
        </p:nvGraphicFramePr>
        <p:xfrm>
          <a:off x="7201348" y="1484758"/>
          <a:ext cx="4990651" cy="36860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4" name="차트 33">
            <a:extLst>
              <a:ext uri="{FF2B5EF4-FFF2-40B4-BE49-F238E27FC236}">
                <a16:creationId xmlns:a16="http://schemas.microsoft.com/office/drawing/2014/main" id="{7DCDC4AB-F6FB-4391-9F9A-6B82F616D4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8121822"/>
              </p:ext>
            </p:extLst>
          </p:nvPr>
        </p:nvGraphicFramePr>
        <p:xfrm>
          <a:off x="4706023" y="1799913"/>
          <a:ext cx="4990651" cy="36860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C388F179-C07F-4F8A-8510-66D053D95096}"/>
              </a:ext>
            </a:extLst>
          </p:cNvPr>
          <p:cNvSpPr txBox="1"/>
          <p:nvPr/>
        </p:nvSpPr>
        <p:spPr>
          <a:xfrm>
            <a:off x="6759872" y="1927952"/>
            <a:ext cx="708861" cy="2721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chemeClr val="accent2"/>
                </a:solidFill>
                <a:latin typeface="배스킨라빈스 B" panose="02020603020101020101" pitchFamily="18" charset="-127"/>
                <a:ea typeface="배스킨라빈스 B" panose="02020603020101020101" pitchFamily="18" charset="-127"/>
              </a:rPr>
              <a:t>Group A</a:t>
            </a:r>
            <a:endParaRPr lang="ko-KR" altLang="en-US" sz="2000" dirty="0">
              <a:solidFill>
                <a:schemeClr val="accent2"/>
              </a:solidFill>
              <a:latin typeface="배스킨라빈스 B" panose="02020603020101020101" pitchFamily="18" charset="-127"/>
              <a:ea typeface="배스킨라빈스 B" panose="02020603020101020101" pitchFamily="18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160B3C9-F36E-4879-86CB-593B8170508E}"/>
              </a:ext>
            </a:extLst>
          </p:cNvPr>
          <p:cNvSpPr txBox="1"/>
          <p:nvPr/>
        </p:nvSpPr>
        <p:spPr>
          <a:xfrm>
            <a:off x="9347201" y="1527741"/>
            <a:ext cx="691144" cy="2721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chemeClr val="accent6"/>
                </a:solidFill>
                <a:latin typeface="배스킨라빈스 B" panose="02020603020101020101" pitchFamily="18" charset="-127"/>
                <a:ea typeface="배스킨라빈스 B" panose="02020603020101020101" pitchFamily="18" charset="-127"/>
              </a:rPr>
              <a:t>Group B</a:t>
            </a:r>
            <a:endParaRPr lang="ko-KR" altLang="en-US" sz="2000" dirty="0">
              <a:solidFill>
                <a:schemeClr val="accent6"/>
              </a:solidFill>
              <a:latin typeface="배스킨라빈스 B" panose="02020603020101020101" pitchFamily="18" charset="-127"/>
              <a:ea typeface="배스킨라빈스 B" panose="02020603020101020101" pitchFamily="18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6A580D1-E60E-4B78-9FF2-B8FA3BDCE3BD}"/>
              </a:ext>
            </a:extLst>
          </p:cNvPr>
          <p:cNvSpPr txBox="1"/>
          <p:nvPr/>
        </p:nvSpPr>
        <p:spPr>
          <a:xfrm>
            <a:off x="6501892" y="4226827"/>
            <a:ext cx="12634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Normal</a:t>
            </a:r>
            <a:r>
              <a:rPr lang="ko-KR" altLang="en-US" sz="14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Item</a:t>
            </a:r>
            <a:endParaRPr lang="ko-KR" altLang="en-US" sz="14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1105995F-D244-4887-B3EA-41CA8E425E33}"/>
              </a:ext>
            </a:extLst>
          </p:cNvPr>
          <p:cNvCxnSpPr>
            <a:cxnSpLocks/>
            <a:endCxn id="52" idx="0"/>
          </p:cNvCxnSpPr>
          <p:nvPr/>
        </p:nvCxnSpPr>
        <p:spPr>
          <a:xfrm>
            <a:off x="7133636" y="2346251"/>
            <a:ext cx="0" cy="188057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그룹 7">
            <a:extLst>
              <a:ext uri="{FF2B5EF4-FFF2-40B4-BE49-F238E27FC236}">
                <a16:creationId xmlns:a16="http://schemas.microsoft.com/office/drawing/2014/main" id="{FFD855C3-EE3E-4E6B-870D-ED61E37789D2}"/>
              </a:ext>
            </a:extLst>
          </p:cNvPr>
          <p:cNvGrpSpPr/>
          <p:nvPr/>
        </p:nvGrpSpPr>
        <p:grpSpPr>
          <a:xfrm>
            <a:off x="422362" y="1399702"/>
            <a:ext cx="4283661" cy="523220"/>
            <a:chOff x="422362" y="1399702"/>
            <a:chExt cx="4283661" cy="523220"/>
          </a:xfrm>
        </p:grpSpPr>
        <p:pic>
          <p:nvPicPr>
            <p:cNvPr id="60" name="그림 59">
              <a:extLst>
                <a:ext uri="{FF2B5EF4-FFF2-40B4-BE49-F238E27FC236}">
                  <a16:creationId xmlns:a16="http://schemas.microsoft.com/office/drawing/2014/main" id="{1284DA69-3D84-4551-8770-A5994B32F33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2362" y="1463591"/>
              <a:ext cx="180000" cy="180000"/>
            </a:xfrm>
            <a:prstGeom prst="rect">
              <a:avLst/>
            </a:prstGeom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3873C3A-9145-4502-B7BD-2BC2F6B4CDB0}"/>
                </a:ext>
              </a:extLst>
            </p:cNvPr>
            <p:cNvSpPr txBox="1"/>
            <p:nvPr/>
          </p:nvSpPr>
          <p:spPr>
            <a:xfrm>
              <a:off x="602363" y="1399702"/>
              <a:ext cx="41036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00B0F0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사용 예제</a:t>
              </a:r>
              <a:r>
                <a:rPr lang="en-US" altLang="ko-KR" sz="14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: [Godot] </a:t>
              </a:r>
              <a:r>
                <a:rPr lang="ko-KR" altLang="en-US" sz="14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고도 엔진에서 정규분포 적용하여 개발하기</a:t>
              </a:r>
              <a:r>
                <a:rPr lang="en-US" altLang="ko-KR" sz="14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! (Normal Distribution)</a:t>
              </a:r>
              <a:r>
                <a:rPr lang="en-US" altLang="ko-KR" sz="1400" dirty="0">
                  <a:solidFill>
                    <a:schemeClr val="bg1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 </a:t>
              </a:r>
              <a:r>
                <a:rPr lang="ko-KR" altLang="en-US" sz="1400" dirty="0">
                  <a:solidFill>
                    <a:schemeClr val="bg1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영상 참조</a:t>
              </a:r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83A5D48A-3D1A-4565-8677-A272FD00A207}"/>
              </a:ext>
            </a:extLst>
          </p:cNvPr>
          <p:cNvGrpSpPr/>
          <p:nvPr/>
        </p:nvGrpSpPr>
        <p:grpSpPr>
          <a:xfrm>
            <a:off x="422362" y="2587369"/>
            <a:ext cx="4283661" cy="523220"/>
            <a:chOff x="422362" y="1399702"/>
            <a:chExt cx="4283661" cy="523220"/>
          </a:xfrm>
        </p:grpSpPr>
        <p:pic>
          <p:nvPicPr>
            <p:cNvPr id="66" name="그림 65">
              <a:extLst>
                <a:ext uri="{FF2B5EF4-FFF2-40B4-BE49-F238E27FC236}">
                  <a16:creationId xmlns:a16="http://schemas.microsoft.com/office/drawing/2014/main" id="{C51BBE2B-958B-4117-98E6-59F7D4C35E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2362" y="1463591"/>
              <a:ext cx="180000" cy="180000"/>
            </a:xfrm>
            <a:prstGeom prst="rect">
              <a:avLst/>
            </a:prstGeom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2CFD2D25-260B-4156-A2A8-14D0490C5312}"/>
                </a:ext>
              </a:extLst>
            </p:cNvPr>
            <p:cNvSpPr txBox="1"/>
            <p:nvPr/>
          </p:nvSpPr>
          <p:spPr>
            <a:xfrm>
              <a:off x="602363" y="1399702"/>
              <a:ext cx="41036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00B0F0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자연스러운 수치 생성</a:t>
              </a:r>
              <a:r>
                <a:rPr lang="en-US" altLang="ko-KR" sz="14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: </a:t>
              </a:r>
              <a:r>
                <a:rPr lang="ko-KR" altLang="en-US" sz="14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평균값</a:t>
              </a:r>
              <a:r>
                <a:rPr lang="en-US" altLang="ko-KR" sz="14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(Mean) </a:t>
              </a:r>
              <a:r>
                <a:rPr lang="ko-KR" altLang="en-US" sz="14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주변에 데이터가 집중되는 종 모양 곡선 활용</a:t>
              </a:r>
              <a:endParaRPr lang="ko-KR" altLang="en-US" sz="14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76EB1485-7FCD-4538-BBD0-CFF534C4385D}"/>
              </a:ext>
            </a:extLst>
          </p:cNvPr>
          <p:cNvGrpSpPr/>
          <p:nvPr/>
        </p:nvGrpSpPr>
        <p:grpSpPr>
          <a:xfrm>
            <a:off x="422362" y="3775036"/>
            <a:ext cx="4283661" cy="523220"/>
            <a:chOff x="422362" y="1399702"/>
            <a:chExt cx="4283661" cy="523220"/>
          </a:xfrm>
        </p:grpSpPr>
        <p:pic>
          <p:nvPicPr>
            <p:cNvPr id="76" name="그림 75">
              <a:extLst>
                <a:ext uri="{FF2B5EF4-FFF2-40B4-BE49-F238E27FC236}">
                  <a16:creationId xmlns:a16="http://schemas.microsoft.com/office/drawing/2014/main" id="{96467862-33C9-41AB-90C6-30747DC68C2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2362" y="1463591"/>
              <a:ext cx="180000" cy="180000"/>
            </a:xfrm>
            <a:prstGeom prst="rect">
              <a:avLst/>
            </a:prstGeom>
          </p:spPr>
        </p:pic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25E80A60-2A0F-4857-940A-F5D2DEC78CE0}"/>
                </a:ext>
              </a:extLst>
            </p:cNvPr>
            <p:cNvSpPr txBox="1"/>
            <p:nvPr/>
          </p:nvSpPr>
          <p:spPr>
            <a:xfrm>
              <a:off x="602363" y="1399702"/>
              <a:ext cx="41036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00B0F0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옵션 결정의 최적 도구</a:t>
              </a:r>
              <a:r>
                <a:rPr lang="en-US" altLang="ko-KR" sz="14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: </a:t>
              </a:r>
              <a:r>
                <a:rPr lang="ko-KR" altLang="en-US" sz="14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이미 드롭이 결정된 아이템의 세부 </a:t>
              </a:r>
              <a:r>
                <a:rPr lang="ko-KR" altLang="en-US" sz="1400" dirty="0" err="1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스탯</a:t>
              </a:r>
              <a:r>
                <a:rPr lang="en-US" altLang="ko-KR" sz="14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(</a:t>
              </a:r>
              <a:r>
                <a:rPr lang="ko-KR" altLang="en-US" sz="14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공격력</a:t>
              </a:r>
              <a:r>
                <a:rPr lang="en-US" altLang="ko-KR" sz="14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, </a:t>
              </a:r>
              <a:r>
                <a:rPr lang="ko-KR" altLang="en-US" sz="14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방어력</a:t>
              </a:r>
              <a:r>
                <a:rPr lang="en-US" altLang="ko-KR" sz="14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 </a:t>
              </a:r>
              <a:r>
                <a:rPr lang="ko-KR" altLang="en-US" sz="14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등</a:t>
              </a:r>
              <a:r>
                <a:rPr lang="en-US" altLang="ko-KR" sz="14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)</a:t>
              </a:r>
              <a:r>
                <a:rPr lang="ko-KR" altLang="en-US" sz="14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의 편차를 줄 때 매우 효과적</a:t>
              </a:r>
              <a:endParaRPr lang="ko-KR" altLang="en-US" sz="14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8808D201-50B5-402C-B98D-21BB015A44B1}"/>
              </a:ext>
            </a:extLst>
          </p:cNvPr>
          <p:cNvSpPr txBox="1"/>
          <p:nvPr/>
        </p:nvSpPr>
        <p:spPr>
          <a:xfrm>
            <a:off x="9063282" y="4226827"/>
            <a:ext cx="12634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Normal</a:t>
            </a:r>
            <a:r>
              <a:rPr lang="ko-KR" altLang="en-US" sz="14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Item</a:t>
            </a:r>
            <a:endParaRPr lang="ko-KR" altLang="en-US" sz="14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107E7314-F6B4-4408-87E1-FC206F9422B7}"/>
              </a:ext>
            </a:extLst>
          </p:cNvPr>
          <p:cNvCxnSpPr>
            <a:cxnSpLocks/>
            <a:endCxn id="86" idx="0"/>
          </p:cNvCxnSpPr>
          <p:nvPr/>
        </p:nvCxnSpPr>
        <p:spPr>
          <a:xfrm>
            <a:off x="9695026" y="1998921"/>
            <a:ext cx="0" cy="222790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0EB5C30C-4D02-45D7-AC29-59A49A5D1544}"/>
              </a:ext>
            </a:extLst>
          </p:cNvPr>
          <p:cNvSpPr txBox="1"/>
          <p:nvPr/>
        </p:nvSpPr>
        <p:spPr>
          <a:xfrm>
            <a:off x="4943697" y="5578358"/>
            <a:ext cx="11523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Worst</a:t>
            </a:r>
            <a:r>
              <a:rPr lang="ko-KR" altLang="en-US" sz="14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Item</a:t>
            </a:r>
            <a:endParaRPr lang="ko-KR" altLang="en-US" sz="14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87682A0C-1511-4E45-8E43-F65FD8018584}"/>
              </a:ext>
            </a:extLst>
          </p:cNvPr>
          <p:cNvCxnSpPr>
            <a:cxnSpLocks/>
            <a:endCxn id="88" idx="0"/>
          </p:cNvCxnSpPr>
          <p:nvPr/>
        </p:nvCxnSpPr>
        <p:spPr>
          <a:xfrm>
            <a:off x="5519849" y="5050571"/>
            <a:ext cx="0" cy="52778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E20A8F47-BB0C-466D-9756-5459CB74993A}"/>
              </a:ext>
            </a:extLst>
          </p:cNvPr>
          <p:cNvSpPr txBox="1"/>
          <p:nvPr/>
        </p:nvSpPr>
        <p:spPr>
          <a:xfrm>
            <a:off x="7542946" y="5578358"/>
            <a:ext cx="11523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Worst</a:t>
            </a:r>
            <a:r>
              <a:rPr lang="ko-KR" altLang="en-US" sz="14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Item</a:t>
            </a:r>
            <a:endParaRPr lang="ko-KR" altLang="en-US" sz="14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D41C24E7-A336-48F4-A049-627F20AAFFA2}"/>
              </a:ext>
            </a:extLst>
          </p:cNvPr>
          <p:cNvCxnSpPr>
            <a:cxnSpLocks/>
            <a:endCxn id="92" idx="0"/>
          </p:cNvCxnSpPr>
          <p:nvPr/>
        </p:nvCxnSpPr>
        <p:spPr>
          <a:xfrm>
            <a:off x="8119098" y="5050571"/>
            <a:ext cx="0" cy="52778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FCD1CB14-09B6-4DFC-A831-210D38310BEA}"/>
              </a:ext>
            </a:extLst>
          </p:cNvPr>
          <p:cNvSpPr txBox="1"/>
          <p:nvPr/>
        </p:nvSpPr>
        <p:spPr>
          <a:xfrm>
            <a:off x="10781430" y="5578358"/>
            <a:ext cx="10134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Best</a:t>
            </a:r>
            <a:r>
              <a:rPr lang="ko-KR" altLang="en-US" sz="14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Item</a:t>
            </a:r>
            <a:endParaRPr lang="ko-KR" altLang="en-US" sz="14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52FC13FF-7AA3-46EF-A3CB-AA3DBCCC5AD4}"/>
              </a:ext>
            </a:extLst>
          </p:cNvPr>
          <p:cNvCxnSpPr>
            <a:cxnSpLocks/>
            <a:endCxn id="94" idx="0"/>
          </p:cNvCxnSpPr>
          <p:nvPr/>
        </p:nvCxnSpPr>
        <p:spPr>
          <a:xfrm>
            <a:off x="11288140" y="5050571"/>
            <a:ext cx="0" cy="52778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38FFABC5-AD0F-4E4C-9C71-4D68E08D39FB}"/>
              </a:ext>
            </a:extLst>
          </p:cNvPr>
          <p:cNvSpPr txBox="1"/>
          <p:nvPr/>
        </p:nvSpPr>
        <p:spPr>
          <a:xfrm>
            <a:off x="8808065" y="5578358"/>
            <a:ext cx="10134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Best</a:t>
            </a:r>
            <a:r>
              <a:rPr lang="ko-KR" altLang="en-US" sz="14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Item</a:t>
            </a:r>
            <a:endParaRPr lang="ko-KR" altLang="en-US" sz="14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90FCD3BB-0EAA-416E-BAC3-D09BA603610E}"/>
              </a:ext>
            </a:extLst>
          </p:cNvPr>
          <p:cNvCxnSpPr>
            <a:cxnSpLocks/>
            <a:endCxn id="96" idx="0"/>
          </p:cNvCxnSpPr>
          <p:nvPr/>
        </p:nvCxnSpPr>
        <p:spPr>
          <a:xfrm>
            <a:off x="8808065" y="5050571"/>
            <a:ext cx="506710" cy="52778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B23429A4-C274-443A-918D-A1631F81655F}"/>
              </a:ext>
            </a:extLst>
          </p:cNvPr>
          <p:cNvCxnSpPr>
            <a:cxnSpLocks/>
          </p:cNvCxnSpPr>
          <p:nvPr/>
        </p:nvCxnSpPr>
        <p:spPr>
          <a:xfrm>
            <a:off x="930234" y="6555180"/>
            <a:ext cx="10426535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3032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F395E3BC-ED7B-4683-87BD-CC9B7D570B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443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9AACD03-1966-4668-BB0B-8B745C98124B}"/>
              </a:ext>
            </a:extLst>
          </p:cNvPr>
          <p:cNvSpPr txBox="1"/>
          <p:nvPr/>
        </p:nvSpPr>
        <p:spPr>
          <a:xfrm>
            <a:off x="318439" y="434882"/>
            <a:ext cx="37673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정규분포의 </a:t>
            </a:r>
            <a:r>
              <a:rPr lang="ko-KR" altLang="en-US" sz="2800" dirty="0">
                <a:solidFill>
                  <a:srgbClr val="00B0F0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한계와 </a:t>
            </a:r>
            <a:r>
              <a:rPr lang="ko-KR" altLang="en-US" sz="2800" dirty="0" err="1">
                <a:solidFill>
                  <a:srgbClr val="00B0F0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할배검</a:t>
            </a:r>
            <a:endParaRPr lang="ko-KR" altLang="en-US" sz="2800" dirty="0">
              <a:solidFill>
                <a:srgbClr val="00B0F0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A7F0D4F-4E96-49EC-A908-F8927496E2E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8558" t="1660" r="8549" b="1450"/>
          <a:stretch/>
        </p:blipFill>
        <p:spPr>
          <a:xfrm>
            <a:off x="384466" y="1213990"/>
            <a:ext cx="4967070" cy="4967070"/>
          </a:xfrm>
          <a:prstGeom prst="roundRect">
            <a:avLst>
              <a:gd name="adj" fmla="val 2254"/>
            </a:avLst>
          </a:prstGeom>
          <a:ln>
            <a:solidFill>
              <a:srgbClr val="00B0F0"/>
            </a:solidFill>
          </a:ln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4A24FD51-D736-492A-8D89-6C89FD71DBC6}"/>
              </a:ext>
            </a:extLst>
          </p:cNvPr>
          <p:cNvGrpSpPr/>
          <p:nvPr/>
        </p:nvGrpSpPr>
        <p:grpSpPr>
          <a:xfrm>
            <a:off x="5669974" y="1213989"/>
            <a:ext cx="6137560" cy="4967069"/>
            <a:chOff x="5736000" y="1213989"/>
            <a:chExt cx="6137560" cy="4967069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AF4CF165-0492-4585-B934-D4E62BFE9191}"/>
                </a:ext>
              </a:extLst>
            </p:cNvPr>
            <p:cNvSpPr/>
            <p:nvPr/>
          </p:nvSpPr>
          <p:spPr>
            <a:xfrm>
              <a:off x="5736000" y="1213989"/>
              <a:ext cx="6137560" cy="4967069"/>
            </a:xfrm>
            <a:prstGeom prst="roundRect">
              <a:avLst>
                <a:gd name="adj" fmla="val 3307"/>
              </a:avLst>
            </a:prstGeom>
            <a:solidFill>
              <a:srgbClr val="0B162A"/>
            </a:solidFill>
            <a:ln w="63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741FCE64-E98A-4C10-8A8F-9D6282077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05358" y="1547243"/>
              <a:ext cx="360000" cy="36000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846C9FB-03F9-4A78-B37B-7E58EB4C68DD}"/>
                </a:ext>
              </a:extLst>
            </p:cNvPr>
            <p:cNvSpPr txBox="1"/>
            <p:nvPr/>
          </p:nvSpPr>
          <p:spPr>
            <a:xfrm>
              <a:off x="5903764" y="2039050"/>
              <a:ext cx="18614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dirty="0">
                  <a:solidFill>
                    <a:srgbClr val="00B0F0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확률 제어의 문제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D0CC823-C9AD-4A87-B64F-49D2BDE51736}"/>
                </a:ext>
              </a:extLst>
            </p:cNvPr>
            <p:cNvSpPr txBox="1"/>
            <p:nvPr/>
          </p:nvSpPr>
          <p:spPr>
            <a:xfrm>
              <a:off x="6005358" y="2869325"/>
              <a:ext cx="5548689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dirty="0">
                  <a:solidFill>
                    <a:schemeClr val="accent5">
                      <a:lumMod val="20000"/>
                      <a:lumOff val="80000"/>
                    </a:schemeClr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수치</a:t>
              </a:r>
              <a:r>
                <a:rPr lang="en-US" altLang="ko-KR" sz="1600" dirty="0">
                  <a:solidFill>
                    <a:schemeClr val="accent5">
                      <a:lumMod val="20000"/>
                      <a:lumOff val="80000"/>
                    </a:schemeClr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(10~100)</a:t>
              </a:r>
              <a:r>
                <a:rPr lang="ko-KR" altLang="en-US" sz="1600" dirty="0">
                  <a:solidFill>
                    <a:schemeClr val="accent5">
                      <a:lumMod val="20000"/>
                      <a:lumOff val="80000"/>
                    </a:schemeClr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을 뽑을 때는 기막힌 성능을 발휘하지만</a:t>
              </a:r>
              <a:r>
                <a:rPr lang="en-US" altLang="ko-KR" sz="1600" dirty="0">
                  <a:solidFill>
                    <a:schemeClr val="accent5">
                      <a:lumMod val="20000"/>
                      <a:lumOff val="80000"/>
                    </a:schemeClr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, </a:t>
              </a:r>
              <a:r>
                <a:rPr lang="en-US" altLang="ko-KR" sz="1600" dirty="0">
                  <a:solidFill>
                    <a:srgbClr val="00B0F0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[</a:t>
              </a:r>
              <a:r>
                <a:rPr lang="ko-KR" altLang="en-US" sz="1600" dirty="0" err="1">
                  <a:solidFill>
                    <a:srgbClr val="00B0F0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할배검</a:t>
              </a:r>
              <a:r>
                <a:rPr lang="en-US" altLang="ko-KR" sz="1600" dirty="0">
                  <a:solidFill>
                    <a:srgbClr val="00B0F0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]</a:t>
              </a:r>
              <a:r>
                <a:rPr lang="ko-KR" altLang="en-US" sz="1600" dirty="0">
                  <a:solidFill>
                    <a:schemeClr val="accent5">
                      <a:lumMod val="20000"/>
                      <a:lumOff val="80000"/>
                    </a:schemeClr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처럼 딱 떨어지는 극악의 확률로 특정 개체를 </a:t>
              </a:r>
              <a:r>
                <a:rPr lang="ko-KR" altLang="en-US" sz="1600" dirty="0" err="1">
                  <a:solidFill>
                    <a:schemeClr val="accent5">
                      <a:lumMod val="20000"/>
                      <a:lumOff val="80000"/>
                    </a:schemeClr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드롭시켜야</a:t>
              </a:r>
              <a:r>
                <a:rPr lang="ko-KR" altLang="en-US" sz="1600" dirty="0">
                  <a:solidFill>
                    <a:schemeClr val="accent5">
                      <a:lumMod val="20000"/>
                      <a:lumOff val="80000"/>
                    </a:schemeClr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 할 때는 구조적인 결함이 발생</a:t>
              </a:r>
              <a:endParaRPr lang="en-US" altLang="ko-KR"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endParaRPr>
            </a:p>
            <a:p>
              <a:endParaRPr lang="en-US" altLang="ko-KR"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endParaRPr>
            </a:p>
            <a:p>
              <a:r>
                <a:rPr lang="ko-KR" altLang="en-US" sz="16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아이템별로 드롭 확률을 직접적으로 통제할 수 없기 때문</a:t>
              </a:r>
            </a:p>
          </p:txBody>
        </p:sp>
      </p:grp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2FAAA714-1C3F-4C19-A1C5-32542EB1B721}"/>
              </a:ext>
            </a:extLst>
          </p:cNvPr>
          <p:cNvCxnSpPr>
            <a:cxnSpLocks/>
          </p:cNvCxnSpPr>
          <p:nvPr/>
        </p:nvCxnSpPr>
        <p:spPr>
          <a:xfrm>
            <a:off x="930234" y="6555180"/>
            <a:ext cx="10426535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289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57C11D5-3EFA-471C-9916-B4A23693C69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443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8C17D7-5C04-43AB-8DB6-72AE06BD714A}"/>
              </a:ext>
            </a:extLst>
          </p:cNvPr>
          <p:cNvSpPr txBox="1"/>
          <p:nvPr/>
        </p:nvSpPr>
        <p:spPr>
          <a:xfrm>
            <a:off x="318439" y="434882"/>
            <a:ext cx="34788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확률의 </a:t>
            </a:r>
            <a:r>
              <a:rPr lang="en-US" altLang="ko-KR" sz="2800" dirty="0">
                <a:solidFill>
                  <a:srgbClr val="00B0F0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3</a:t>
            </a:r>
            <a:r>
              <a:rPr lang="ko-KR" altLang="en-US" sz="2800" dirty="0">
                <a:solidFill>
                  <a:srgbClr val="00B0F0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대장</a:t>
            </a:r>
            <a:r>
              <a:rPr lang="ko-KR" altLang="en-US" sz="28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비교</a:t>
            </a:r>
            <a:r>
              <a:rPr lang="en-US" altLang="ko-KR" sz="28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ko-KR" altLang="en-US" sz="28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분석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DC4FA7B4-FD14-448D-BF8E-4F0BE1531B52}"/>
              </a:ext>
            </a:extLst>
          </p:cNvPr>
          <p:cNvSpPr/>
          <p:nvPr/>
        </p:nvSpPr>
        <p:spPr>
          <a:xfrm>
            <a:off x="318439" y="1610939"/>
            <a:ext cx="3600000" cy="4301976"/>
          </a:xfrm>
          <a:prstGeom prst="roundRect">
            <a:avLst>
              <a:gd name="adj" fmla="val 3307"/>
            </a:avLst>
          </a:prstGeom>
          <a:solidFill>
            <a:srgbClr val="0B162A"/>
          </a:solidFill>
          <a:ln w="63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3753AA5-13F3-44C5-AA27-1043C52E8C09}"/>
              </a:ext>
            </a:extLst>
          </p:cNvPr>
          <p:cNvSpPr/>
          <p:nvPr/>
        </p:nvSpPr>
        <p:spPr>
          <a:xfrm>
            <a:off x="8273562" y="1610939"/>
            <a:ext cx="3600000" cy="4301976"/>
          </a:xfrm>
          <a:prstGeom prst="roundRect">
            <a:avLst>
              <a:gd name="adj" fmla="val 3307"/>
            </a:avLst>
          </a:prstGeom>
          <a:solidFill>
            <a:srgbClr val="0B162A"/>
          </a:solidFill>
          <a:ln w="63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366ECA1-F7DF-417E-B9F5-94696A9C9105}"/>
              </a:ext>
            </a:extLst>
          </p:cNvPr>
          <p:cNvSpPr/>
          <p:nvPr/>
        </p:nvSpPr>
        <p:spPr>
          <a:xfrm>
            <a:off x="4296001" y="1610939"/>
            <a:ext cx="3600000" cy="4301976"/>
          </a:xfrm>
          <a:prstGeom prst="roundRect">
            <a:avLst>
              <a:gd name="adj" fmla="val 3307"/>
            </a:avLst>
          </a:prstGeom>
          <a:solidFill>
            <a:srgbClr val="0B162A"/>
          </a:solidFill>
          <a:ln w="63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사각형: 둥근 위쪽 모서리 3">
            <a:extLst>
              <a:ext uri="{FF2B5EF4-FFF2-40B4-BE49-F238E27FC236}">
                <a16:creationId xmlns:a16="http://schemas.microsoft.com/office/drawing/2014/main" id="{197331A8-81CC-4915-9A6D-0F949A66B7EE}"/>
              </a:ext>
            </a:extLst>
          </p:cNvPr>
          <p:cNvSpPr/>
          <p:nvPr/>
        </p:nvSpPr>
        <p:spPr>
          <a:xfrm>
            <a:off x="318438" y="1608821"/>
            <a:ext cx="3600002" cy="72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사각형: 둥근 위쪽 모서리 18">
            <a:extLst>
              <a:ext uri="{FF2B5EF4-FFF2-40B4-BE49-F238E27FC236}">
                <a16:creationId xmlns:a16="http://schemas.microsoft.com/office/drawing/2014/main" id="{064147B8-007C-43D4-A495-7F4BAD8C95D0}"/>
              </a:ext>
            </a:extLst>
          </p:cNvPr>
          <p:cNvSpPr/>
          <p:nvPr/>
        </p:nvSpPr>
        <p:spPr>
          <a:xfrm>
            <a:off x="4296000" y="1608821"/>
            <a:ext cx="3600002" cy="72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사각형: 둥근 위쪽 모서리 19">
            <a:extLst>
              <a:ext uri="{FF2B5EF4-FFF2-40B4-BE49-F238E27FC236}">
                <a16:creationId xmlns:a16="http://schemas.microsoft.com/office/drawing/2014/main" id="{C111C7AB-BB37-43A3-805E-6A2F96C5B944}"/>
              </a:ext>
            </a:extLst>
          </p:cNvPr>
          <p:cNvSpPr/>
          <p:nvPr/>
        </p:nvSpPr>
        <p:spPr>
          <a:xfrm>
            <a:off x="8273561" y="1608821"/>
            <a:ext cx="3600002" cy="72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6388A364-20E9-4A63-9C93-3D1D0B8E08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270" y="1945920"/>
            <a:ext cx="540000" cy="540000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92971778-8CEE-4BC8-A4CC-06EDC06F3F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5025" y="1945920"/>
            <a:ext cx="540000" cy="540000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AF411C77-2D53-407E-A464-935BB679A69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0389" y="1948375"/>
            <a:ext cx="540000" cy="535091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D10CB0B9-3931-4522-9C51-38AAFF168122}"/>
              </a:ext>
            </a:extLst>
          </p:cNvPr>
          <p:cNvSpPr txBox="1"/>
          <p:nvPr/>
        </p:nvSpPr>
        <p:spPr>
          <a:xfrm>
            <a:off x="541270" y="2820348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균등 난수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296B1EF-11AF-49C9-822B-E3531469807A}"/>
              </a:ext>
            </a:extLst>
          </p:cNvPr>
          <p:cNvSpPr txBox="1"/>
          <p:nvPr/>
        </p:nvSpPr>
        <p:spPr>
          <a:xfrm>
            <a:off x="4525025" y="2820348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정규분포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D7CEFEB-35DC-48FC-927E-35CAB9D24D8A}"/>
              </a:ext>
            </a:extLst>
          </p:cNvPr>
          <p:cNvSpPr txBox="1"/>
          <p:nvPr/>
        </p:nvSpPr>
        <p:spPr>
          <a:xfrm>
            <a:off x="8500389" y="2820348"/>
            <a:ext cx="1749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가중치 누적 차감</a:t>
            </a: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C2F58AA8-DB3B-4618-8E71-8622CD0D7B67}"/>
              </a:ext>
            </a:extLst>
          </p:cNvPr>
          <p:cNvCxnSpPr>
            <a:cxnSpLocks/>
          </p:cNvCxnSpPr>
          <p:nvPr/>
        </p:nvCxnSpPr>
        <p:spPr>
          <a:xfrm>
            <a:off x="542461" y="3598224"/>
            <a:ext cx="3151956" cy="0"/>
          </a:xfrm>
          <a:prstGeom prst="line">
            <a:avLst/>
          </a:prstGeom>
          <a:ln w="63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35B51898-81CD-4CD7-A5A0-6BA88C59CA81}"/>
              </a:ext>
            </a:extLst>
          </p:cNvPr>
          <p:cNvCxnSpPr>
            <a:cxnSpLocks/>
          </p:cNvCxnSpPr>
          <p:nvPr/>
        </p:nvCxnSpPr>
        <p:spPr>
          <a:xfrm>
            <a:off x="4520023" y="3598224"/>
            <a:ext cx="3151956" cy="0"/>
          </a:xfrm>
          <a:prstGeom prst="line">
            <a:avLst/>
          </a:prstGeom>
          <a:ln w="63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438198CD-88EA-4D20-B8AD-9F6C99C9DB60}"/>
              </a:ext>
            </a:extLst>
          </p:cNvPr>
          <p:cNvCxnSpPr>
            <a:cxnSpLocks/>
          </p:cNvCxnSpPr>
          <p:nvPr/>
        </p:nvCxnSpPr>
        <p:spPr>
          <a:xfrm>
            <a:off x="8497584" y="3598224"/>
            <a:ext cx="3151956" cy="0"/>
          </a:xfrm>
          <a:prstGeom prst="line">
            <a:avLst/>
          </a:prstGeom>
          <a:ln w="63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907C3FA3-376E-48E1-A09C-793E33743E1A}"/>
              </a:ext>
            </a:extLst>
          </p:cNvPr>
          <p:cNvSpPr txBox="1"/>
          <p:nvPr/>
        </p:nvSpPr>
        <p:spPr>
          <a:xfrm>
            <a:off x="541270" y="4063072"/>
            <a:ext cx="31519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모든 확률 사건이 완전히 동일한 빈도로 발생하도록</a:t>
            </a:r>
            <a:r>
              <a:rPr lang="en-US" altLang="ko-KR" sz="1200" dirty="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ko-KR" altLang="en-US" sz="1200" dirty="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통제하는 정량적 모델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2ED8A87-A8D8-42CD-B965-03B0E2BE6F51}"/>
              </a:ext>
            </a:extLst>
          </p:cNvPr>
          <p:cNvSpPr txBox="1"/>
          <p:nvPr/>
        </p:nvSpPr>
        <p:spPr>
          <a:xfrm>
            <a:off x="4520023" y="4063072"/>
            <a:ext cx="31519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평균값 주위에 데이터가 가장 많이 수렴하고 양극단으로 갈수록 희소해지는 모델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80AB2D3-A528-4774-B9CC-A60CD6EE001D}"/>
              </a:ext>
            </a:extLst>
          </p:cNvPr>
          <p:cNvSpPr txBox="1"/>
          <p:nvPr/>
        </p:nvSpPr>
        <p:spPr>
          <a:xfrm>
            <a:off x="8539819" y="4063072"/>
            <a:ext cx="31519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테이블에 지정된 가중치의 합을 기반으로 난수를 롤링하고</a:t>
            </a:r>
            <a:r>
              <a:rPr lang="en-US" altLang="ko-KR" sz="1200" dirty="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z="1200" dirty="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누적 차감하여 정밀하게 뽑아내는 모델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21A5D2D-9ED8-40D9-9C4B-9B65156E5CF9}"/>
              </a:ext>
            </a:extLst>
          </p:cNvPr>
          <p:cNvSpPr txBox="1"/>
          <p:nvPr/>
        </p:nvSpPr>
        <p:spPr>
          <a:xfrm>
            <a:off x="811270" y="4788682"/>
            <a:ext cx="28819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모든 조건의 확률이 동일하므로</a:t>
            </a:r>
            <a:r>
              <a:rPr lang="en-US" altLang="ko-KR" sz="12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드롭률</a:t>
            </a:r>
            <a:r>
              <a:rPr lang="ko-KR" altLang="en-US" sz="12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설계 시 기획자가 특정 아이템의 획득 빈도를 미세하게 조정하기 어려움</a:t>
            </a: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D4119A13-FED8-4908-8F96-4736B4D3643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270" y="4788682"/>
            <a:ext cx="270000" cy="270000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A756233F-6486-4669-8C64-C0CF87DB405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7583" y="4788682"/>
            <a:ext cx="270000" cy="270000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9AC4FEB0-F82E-4F4C-96A8-EA85D085E69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0023" y="4788682"/>
            <a:ext cx="270000" cy="270000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9815D449-8778-46C2-9D3B-FB8A84FAD56B}"/>
              </a:ext>
            </a:extLst>
          </p:cNvPr>
          <p:cNvSpPr txBox="1"/>
          <p:nvPr/>
        </p:nvSpPr>
        <p:spPr>
          <a:xfrm>
            <a:off x="4795025" y="4788682"/>
            <a:ext cx="28819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아이템 자체의 드롭 여부 통제보다</a:t>
            </a:r>
            <a:r>
              <a:rPr lang="en-US" altLang="ko-KR" sz="12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획득이 결정된 아이템의 세부 옵션</a:t>
            </a:r>
            <a:r>
              <a:rPr lang="en-US" altLang="ko-KR" sz="12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강화 수치</a:t>
            </a:r>
            <a:r>
              <a:rPr lang="en-US" altLang="ko-KR" sz="12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추가 공격력 등</a:t>
            </a:r>
            <a:r>
              <a:rPr lang="en-US" altLang="ko-KR" sz="12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)</a:t>
            </a:r>
            <a:r>
              <a:rPr lang="ko-KR" altLang="en-US" sz="12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을 다이내믹하게 결정할 때 활용도가 극대화됨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6D59E72-AD27-40F4-9E6C-069A5CBC303C}"/>
              </a:ext>
            </a:extLst>
          </p:cNvPr>
          <p:cNvSpPr txBox="1"/>
          <p:nvPr/>
        </p:nvSpPr>
        <p:spPr>
          <a:xfrm>
            <a:off x="8767584" y="4788682"/>
            <a:ext cx="28819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기획자가 설계한 확률 수치 그대로 </a:t>
            </a:r>
            <a:r>
              <a:rPr lang="en-US" altLang="ko-KR" sz="12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100% </a:t>
            </a:r>
            <a:r>
              <a:rPr lang="ko-KR" altLang="en-US" sz="12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정교한 통제가 가능하며</a:t>
            </a:r>
            <a:r>
              <a:rPr lang="en-US" altLang="ko-KR" sz="12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등급별 랜덤 박스나 완제품 장비 드롭 시스템의 핵심 엔진으로 사용됨</a:t>
            </a:r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60ED35DA-BCD7-467F-B90D-B86129E91339}"/>
              </a:ext>
            </a:extLst>
          </p:cNvPr>
          <p:cNvCxnSpPr>
            <a:cxnSpLocks/>
          </p:cNvCxnSpPr>
          <p:nvPr/>
        </p:nvCxnSpPr>
        <p:spPr>
          <a:xfrm>
            <a:off x="930234" y="6555180"/>
            <a:ext cx="10426535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6492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57C11D5-3EFA-471C-9916-B4A23693C69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44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8C17D7-5C04-43AB-8DB6-72AE06BD714A}"/>
              </a:ext>
            </a:extLst>
          </p:cNvPr>
          <p:cNvSpPr txBox="1"/>
          <p:nvPr/>
        </p:nvSpPr>
        <p:spPr>
          <a:xfrm>
            <a:off x="318439" y="434882"/>
            <a:ext cx="267413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가중치</a:t>
            </a:r>
            <a:r>
              <a:rPr lang="en-US" altLang="ko-KR" sz="28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ko-KR" altLang="en-US" sz="28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누적 차감</a:t>
            </a:r>
            <a:r>
              <a:rPr lang="en-US" altLang="ko-KR" sz="28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:</a:t>
            </a:r>
          </a:p>
          <a:p>
            <a:r>
              <a:rPr lang="ko-KR" altLang="en-US" sz="2800" dirty="0" err="1">
                <a:solidFill>
                  <a:srgbClr val="00B0F0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땅따먹기</a:t>
            </a:r>
            <a:r>
              <a:rPr lang="ko-KR" altLang="en-US" sz="2800" dirty="0" err="1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의</a:t>
            </a:r>
            <a:r>
              <a:rPr lang="ko-KR" altLang="en-US" sz="28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원리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D407464-7140-4BC6-B352-C3A42913331A}"/>
              </a:ext>
            </a:extLst>
          </p:cNvPr>
          <p:cNvSpPr txBox="1"/>
          <p:nvPr/>
        </p:nvSpPr>
        <p:spPr>
          <a:xfrm>
            <a:off x="318440" y="2014300"/>
            <a:ext cx="47226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accent5">
                    <a:lumMod val="40000"/>
                    <a:lumOff val="6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가중치</a:t>
            </a:r>
            <a:r>
              <a:rPr lang="en-US" altLang="ko-KR" sz="1400" dirty="0">
                <a:solidFill>
                  <a:schemeClr val="accent5">
                    <a:lumMod val="40000"/>
                    <a:lumOff val="6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(Weight) </a:t>
            </a:r>
            <a:r>
              <a:rPr lang="ko-KR" altLang="en-US" sz="1400" dirty="0">
                <a:solidFill>
                  <a:schemeClr val="accent5">
                    <a:lumMod val="40000"/>
                    <a:lumOff val="6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알고리즘은 각 아이템이 가진 고유 수치만큼 거대한 일직선상의 땅을 만드는 방식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99969E87-3ECC-4CED-8366-6AF37E7452BA}"/>
              </a:ext>
            </a:extLst>
          </p:cNvPr>
          <p:cNvGrpSpPr/>
          <p:nvPr/>
        </p:nvGrpSpPr>
        <p:grpSpPr>
          <a:xfrm>
            <a:off x="6764332" y="2014300"/>
            <a:ext cx="3704411" cy="1315395"/>
            <a:chOff x="6184850" y="2014300"/>
            <a:chExt cx="3704411" cy="1315395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146EE53A-4D0F-4E8D-9DD7-EFC3A89E5A9D}"/>
                </a:ext>
              </a:extLst>
            </p:cNvPr>
            <p:cNvGrpSpPr/>
            <p:nvPr/>
          </p:nvGrpSpPr>
          <p:grpSpPr>
            <a:xfrm>
              <a:off x="6184850" y="2014300"/>
              <a:ext cx="3704411" cy="307777"/>
              <a:chOff x="442404" y="3121223"/>
              <a:chExt cx="3704411" cy="307777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4C46D1E-4035-44F8-BE8A-D01D397C6BC8}"/>
                  </a:ext>
                </a:extLst>
              </p:cNvPr>
              <p:cNvSpPr txBox="1"/>
              <p:nvPr/>
            </p:nvSpPr>
            <p:spPr>
              <a:xfrm>
                <a:off x="673364" y="3121223"/>
                <a:ext cx="347345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400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기획자가 부여한 </a:t>
                </a:r>
                <a:r>
                  <a:rPr lang="en-US" altLang="ko-KR" sz="1400" dirty="0">
                    <a:solidFill>
                      <a:srgbClr val="00B0F0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Weight</a:t>
                </a:r>
                <a:r>
                  <a:rPr lang="ko-KR" altLang="en-US" sz="1400" dirty="0">
                    <a:solidFill>
                      <a:srgbClr val="00B0F0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의 총합</a:t>
                </a:r>
                <a:r>
                  <a:rPr lang="ko-KR" altLang="en-US" sz="1400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만큼 범위 생성</a:t>
                </a:r>
              </a:p>
            </p:txBody>
          </p:sp>
          <p:pic>
            <p:nvPicPr>
              <p:cNvPr id="42" name="그림 41">
                <a:extLst>
                  <a:ext uri="{FF2B5EF4-FFF2-40B4-BE49-F238E27FC236}">
                    <a16:creationId xmlns:a16="http://schemas.microsoft.com/office/drawing/2014/main" id="{27BF49AD-789E-4D7F-9BE8-1C35300CA3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42404" y="3162831"/>
                <a:ext cx="234000" cy="234000"/>
              </a:xfrm>
              <a:prstGeom prst="rect">
                <a:avLst/>
              </a:prstGeom>
            </p:spPr>
          </p:pic>
        </p:grp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58C726FF-B4FE-4839-8FD7-FDC18E4EDE76}"/>
                </a:ext>
              </a:extLst>
            </p:cNvPr>
            <p:cNvGrpSpPr/>
            <p:nvPr/>
          </p:nvGrpSpPr>
          <p:grpSpPr>
            <a:xfrm>
              <a:off x="6184850" y="2518109"/>
              <a:ext cx="2993255" cy="307777"/>
              <a:chOff x="442404" y="3121223"/>
              <a:chExt cx="2993255" cy="307777"/>
            </a:xfrm>
          </p:grpSpPr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9F7E0225-FCF2-45FA-87A8-FA66F5CC683E}"/>
                  </a:ext>
                </a:extLst>
              </p:cNvPr>
              <p:cNvSpPr txBox="1"/>
              <p:nvPr/>
            </p:nvSpPr>
            <p:spPr>
              <a:xfrm>
                <a:off x="673364" y="3121223"/>
                <a:ext cx="276229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400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그 범위 위에 단 하나의 주사위를 투척</a:t>
                </a:r>
              </a:p>
            </p:txBody>
          </p:sp>
          <p:pic>
            <p:nvPicPr>
              <p:cNvPr id="52" name="그림 51">
                <a:extLst>
                  <a:ext uri="{FF2B5EF4-FFF2-40B4-BE49-F238E27FC236}">
                    <a16:creationId xmlns:a16="http://schemas.microsoft.com/office/drawing/2014/main" id="{1D7D3C97-9AD1-4A60-8005-2C55925142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42404" y="3162831"/>
                <a:ext cx="234000" cy="234000"/>
              </a:xfrm>
              <a:prstGeom prst="rect">
                <a:avLst/>
              </a:prstGeom>
            </p:spPr>
          </p:pic>
        </p:grp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825A24BC-1FFE-47A9-B0DF-6FCEC5EE6639}"/>
                </a:ext>
              </a:extLst>
            </p:cNvPr>
            <p:cNvGrpSpPr/>
            <p:nvPr/>
          </p:nvGrpSpPr>
          <p:grpSpPr>
            <a:xfrm>
              <a:off x="6184850" y="3021918"/>
              <a:ext cx="2948371" cy="307777"/>
              <a:chOff x="442404" y="3121223"/>
              <a:chExt cx="2948371" cy="307777"/>
            </a:xfrm>
          </p:grpSpPr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EAD7849-C855-4483-AF15-81CF62E89328}"/>
                  </a:ext>
                </a:extLst>
              </p:cNvPr>
              <p:cNvSpPr txBox="1"/>
              <p:nvPr/>
            </p:nvSpPr>
            <p:spPr>
              <a:xfrm>
                <a:off x="673364" y="3121223"/>
                <a:ext cx="271741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400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주사위가 멈춘 지점의 땅 주인을 검색</a:t>
                </a:r>
              </a:p>
            </p:txBody>
          </p:sp>
          <p:pic>
            <p:nvPicPr>
              <p:cNvPr id="55" name="그림 54">
                <a:extLst>
                  <a:ext uri="{FF2B5EF4-FFF2-40B4-BE49-F238E27FC236}">
                    <a16:creationId xmlns:a16="http://schemas.microsoft.com/office/drawing/2014/main" id="{7C03B308-5FB3-4691-9205-8CE44C8C5C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42404" y="3162831"/>
                <a:ext cx="234000" cy="234000"/>
              </a:xfrm>
              <a:prstGeom prst="rect">
                <a:avLst/>
              </a:prstGeom>
            </p:spPr>
          </p:pic>
        </p:grp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9459B2E4-471F-40E5-AE43-4AC0EC7D33BD}"/>
              </a:ext>
            </a:extLst>
          </p:cNvPr>
          <p:cNvSpPr txBox="1"/>
          <p:nvPr/>
        </p:nvSpPr>
        <p:spPr>
          <a:xfrm>
            <a:off x="293899" y="5955019"/>
            <a:ext cx="116042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00B0F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기획한 엑셀 데이터를 일직선으로 이어 붙여 </a:t>
            </a:r>
            <a:r>
              <a:rPr lang="en-US" altLang="ko-KR" sz="1400" dirty="0">
                <a:solidFill>
                  <a:srgbClr val="00B0F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1</a:t>
            </a:r>
            <a:r>
              <a:rPr lang="ko-KR" altLang="en-US" sz="1400" dirty="0">
                <a:solidFill>
                  <a:srgbClr val="00B0F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부터 </a:t>
            </a:r>
            <a:r>
              <a:rPr lang="en-US" altLang="ko-KR" sz="1400" dirty="0">
                <a:solidFill>
                  <a:srgbClr val="00B0F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1,000,000</a:t>
            </a:r>
            <a:r>
              <a:rPr lang="ko-KR" altLang="en-US" sz="1400" dirty="0">
                <a:solidFill>
                  <a:srgbClr val="00B0F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까지의 대형 자</a:t>
            </a:r>
            <a:r>
              <a:rPr lang="en-US" altLang="ko-KR" sz="1400" dirty="0">
                <a:solidFill>
                  <a:srgbClr val="00B0F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(Ruler)</a:t>
            </a:r>
            <a:r>
              <a:rPr lang="ko-KR" altLang="en-US" sz="1400" dirty="0">
                <a:solidFill>
                  <a:srgbClr val="00B0F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를 형성함</a:t>
            </a:r>
          </a:p>
        </p:txBody>
      </p: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A63ADFB5-409E-4BB7-8FAE-7ED81E3CE227}"/>
              </a:ext>
            </a:extLst>
          </p:cNvPr>
          <p:cNvGrpSpPr/>
          <p:nvPr/>
        </p:nvGrpSpPr>
        <p:grpSpPr>
          <a:xfrm>
            <a:off x="293899" y="3764874"/>
            <a:ext cx="11604202" cy="1930651"/>
            <a:chOff x="293899" y="3696482"/>
            <a:chExt cx="11604202" cy="1930651"/>
          </a:xfrm>
        </p:grpSpPr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850C1BBA-6540-4967-BC24-19029C25CA19}"/>
                </a:ext>
              </a:extLst>
            </p:cNvPr>
            <p:cNvSpPr/>
            <p:nvPr/>
          </p:nvSpPr>
          <p:spPr>
            <a:xfrm>
              <a:off x="318440" y="4497253"/>
              <a:ext cx="5564910" cy="503804"/>
            </a:xfrm>
            <a:prstGeom prst="rect">
              <a:avLst/>
            </a:prstGeom>
            <a:noFill/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00B0F0"/>
                </a:solidFill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7B1A59B7-A9FE-4CBA-BAE7-B5D12B55375A}"/>
                </a:ext>
              </a:extLst>
            </p:cNvPr>
            <p:cNvSpPr/>
            <p:nvPr/>
          </p:nvSpPr>
          <p:spPr>
            <a:xfrm>
              <a:off x="318439" y="3993507"/>
              <a:ext cx="11497877" cy="503804"/>
            </a:xfrm>
            <a:prstGeom prst="rect">
              <a:avLst/>
            </a:prstGeom>
            <a:noFill/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0D47A891-9686-4CFF-8745-41E11615CB0D}"/>
                </a:ext>
              </a:extLst>
            </p:cNvPr>
            <p:cNvSpPr/>
            <p:nvPr/>
          </p:nvSpPr>
          <p:spPr>
            <a:xfrm>
              <a:off x="6078382" y="4497253"/>
              <a:ext cx="2862883" cy="503804"/>
            </a:xfrm>
            <a:prstGeom prst="rect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00B050"/>
                </a:solidFill>
              </a:endParaRPr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B35ECFE9-026F-49D4-B6A6-B86B7850DBEC}"/>
                </a:ext>
              </a:extLst>
            </p:cNvPr>
            <p:cNvSpPr/>
            <p:nvPr/>
          </p:nvSpPr>
          <p:spPr>
            <a:xfrm>
              <a:off x="9160620" y="4497253"/>
              <a:ext cx="1308123" cy="503804"/>
            </a:xfrm>
            <a:prstGeom prst="rect">
              <a:avLst/>
            </a:prstGeom>
            <a:noFill/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00B0F0"/>
                </a:solidFill>
              </a:endParaRPr>
            </a:p>
          </p:txBody>
        </p:sp>
        <p:grpSp>
          <p:nvGrpSpPr>
            <p:cNvPr id="66" name="그룹 65">
              <a:extLst>
                <a:ext uri="{FF2B5EF4-FFF2-40B4-BE49-F238E27FC236}">
                  <a16:creationId xmlns:a16="http://schemas.microsoft.com/office/drawing/2014/main" id="{44F61F29-FFAB-4179-9EDA-B6E1F72ACA74}"/>
                </a:ext>
              </a:extLst>
            </p:cNvPr>
            <p:cNvGrpSpPr/>
            <p:nvPr/>
          </p:nvGrpSpPr>
          <p:grpSpPr>
            <a:xfrm>
              <a:off x="318439" y="4484263"/>
              <a:ext cx="11496643" cy="0"/>
              <a:chOff x="318439" y="5165766"/>
              <a:chExt cx="11496643" cy="0"/>
            </a:xfrm>
          </p:grpSpPr>
          <p:cxnSp>
            <p:nvCxnSpPr>
              <p:cNvPr id="12" name="직선 연결선 11">
                <a:extLst>
                  <a:ext uri="{FF2B5EF4-FFF2-40B4-BE49-F238E27FC236}">
                    <a16:creationId xmlns:a16="http://schemas.microsoft.com/office/drawing/2014/main" id="{5EF4C743-8333-4724-8643-360A455B29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8439" y="5165766"/>
                <a:ext cx="5564910" cy="0"/>
              </a:xfrm>
              <a:prstGeom prst="line">
                <a:avLst/>
              </a:prstGeom>
              <a:ln w="203200" cap="rnd">
                <a:solidFill>
                  <a:srgbClr val="00B0F0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직선 연결선 55">
                <a:extLst>
                  <a:ext uri="{FF2B5EF4-FFF2-40B4-BE49-F238E27FC236}">
                    <a16:creationId xmlns:a16="http://schemas.microsoft.com/office/drawing/2014/main" id="{7FA9C1DA-F5D9-4DD5-A179-48AC2CF67A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2560" y="5165766"/>
                <a:ext cx="2862883" cy="0"/>
              </a:xfrm>
              <a:prstGeom prst="line">
                <a:avLst/>
              </a:prstGeom>
              <a:ln w="203200" cap="rnd">
                <a:solidFill>
                  <a:srgbClr val="00B050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직선 연결선 56">
                <a:extLst>
                  <a:ext uri="{FF2B5EF4-FFF2-40B4-BE49-F238E27FC236}">
                    <a16:creationId xmlns:a16="http://schemas.microsoft.com/office/drawing/2014/main" id="{6D8EEAAB-7426-4A70-B9EB-FFA41C8567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60620" y="5165766"/>
                <a:ext cx="1314225" cy="0"/>
              </a:xfrm>
              <a:prstGeom prst="line">
                <a:avLst/>
              </a:prstGeom>
              <a:ln w="203200" cap="rnd">
                <a:solidFill>
                  <a:srgbClr val="FFC000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직선 연결선 57">
                <a:extLst>
                  <a:ext uri="{FF2B5EF4-FFF2-40B4-BE49-F238E27FC236}">
                    <a16:creationId xmlns:a16="http://schemas.microsoft.com/office/drawing/2014/main" id="{59AA8A12-E4C9-42B0-9B29-35D27F4B00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815082" y="5165766"/>
                <a:ext cx="0" cy="0"/>
              </a:xfrm>
              <a:prstGeom prst="line">
                <a:avLst/>
              </a:prstGeom>
              <a:ln w="203200" cap="rnd">
                <a:solidFill>
                  <a:srgbClr val="FF0000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직선 연결선 58">
                <a:extLst>
                  <a:ext uri="{FF2B5EF4-FFF2-40B4-BE49-F238E27FC236}">
                    <a16:creationId xmlns:a16="http://schemas.microsoft.com/office/drawing/2014/main" id="{823587D5-3D92-4832-9CF6-0310670017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78376" y="5165766"/>
                <a:ext cx="932337" cy="0"/>
              </a:xfrm>
              <a:prstGeom prst="line">
                <a:avLst/>
              </a:prstGeom>
              <a:ln w="203200" cap="rnd">
                <a:solidFill>
                  <a:srgbClr val="FFFF00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1409AD63-1E17-4B20-B94B-7F39F78D7C7F}"/>
                </a:ext>
              </a:extLst>
            </p:cNvPr>
            <p:cNvSpPr txBox="1"/>
            <p:nvPr/>
          </p:nvSpPr>
          <p:spPr>
            <a:xfrm>
              <a:off x="293899" y="3696482"/>
              <a:ext cx="1160420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chemeClr val="bg2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전체 </a:t>
              </a:r>
              <a:r>
                <a:rPr lang="en-US" altLang="ko-KR" sz="1400" dirty="0">
                  <a:solidFill>
                    <a:schemeClr val="bg2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1,000,000(</a:t>
              </a:r>
              <a:r>
                <a:rPr lang="ko-KR" altLang="en-US" sz="1400" dirty="0">
                  <a:solidFill>
                    <a:schemeClr val="bg2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백만</a:t>
              </a:r>
              <a:r>
                <a:rPr lang="en-US" altLang="ko-KR" sz="1400" dirty="0">
                  <a:solidFill>
                    <a:schemeClr val="bg2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)</a:t>
              </a:r>
              <a:r>
                <a:rPr lang="ko-KR" altLang="en-US" sz="1400" dirty="0">
                  <a:solidFill>
                    <a:schemeClr val="bg2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 범위의 </a:t>
              </a:r>
              <a:r>
                <a:rPr lang="ko-KR" altLang="en-US" sz="1400" dirty="0">
                  <a:solidFill>
                    <a:schemeClr val="bg2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자</a:t>
              </a:r>
              <a:r>
                <a:rPr lang="en-US" altLang="ko-KR" sz="1400" dirty="0">
                  <a:solidFill>
                    <a:schemeClr val="bg2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(Ruler)</a:t>
              </a:r>
              <a:endParaRPr lang="ko-KR" altLang="en-US" sz="1400" dirty="0">
                <a:solidFill>
                  <a:schemeClr val="bg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5F8F6257-5711-426C-873E-9AFF1BF5E6BF}"/>
                </a:ext>
              </a:extLst>
            </p:cNvPr>
            <p:cNvSpPr txBox="1"/>
            <p:nvPr/>
          </p:nvSpPr>
          <p:spPr>
            <a:xfrm>
              <a:off x="318439" y="4995521"/>
              <a:ext cx="55649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00B0F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가중치</a:t>
              </a:r>
              <a:r>
                <a:rPr lang="en-US" altLang="ko-KR" sz="1400" dirty="0">
                  <a:solidFill>
                    <a:srgbClr val="00B0F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(708,000): 70.8%</a:t>
              </a:r>
              <a:endParaRPr lang="ko-KR" altLang="en-US" sz="1400" dirty="0">
                <a:solidFill>
                  <a:srgbClr val="00B0F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251BE98F-36F1-4D03-B526-DE84A8633729}"/>
                </a:ext>
              </a:extLst>
            </p:cNvPr>
            <p:cNvSpPr txBox="1"/>
            <p:nvPr/>
          </p:nvSpPr>
          <p:spPr>
            <a:xfrm>
              <a:off x="6078381" y="4995521"/>
              <a:ext cx="28628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00B05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가중치</a:t>
              </a:r>
              <a:r>
                <a:rPr lang="en-US" altLang="ko-KR" sz="1400" dirty="0">
                  <a:solidFill>
                    <a:srgbClr val="00B05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(251,000): 25.1%</a:t>
              </a:r>
              <a:endParaRPr lang="ko-KR" altLang="en-US" sz="1400" dirty="0">
                <a:solidFill>
                  <a:srgbClr val="00B05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FBE9842A-2DE4-4555-82C2-88BB039A9E27}"/>
                </a:ext>
              </a:extLst>
            </p:cNvPr>
            <p:cNvSpPr txBox="1"/>
            <p:nvPr/>
          </p:nvSpPr>
          <p:spPr>
            <a:xfrm>
              <a:off x="9160620" y="4995521"/>
              <a:ext cx="13081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srgbClr val="FFC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…</a:t>
              </a:r>
              <a:endParaRPr lang="ko-KR" altLang="en-US" sz="1400" dirty="0">
                <a:solidFill>
                  <a:srgbClr val="FFC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F90516DE-1A82-4789-8CFF-BCC0D69D1CAD}"/>
                </a:ext>
              </a:extLst>
            </p:cNvPr>
            <p:cNvSpPr/>
            <p:nvPr/>
          </p:nvSpPr>
          <p:spPr>
            <a:xfrm>
              <a:off x="10678376" y="4497253"/>
              <a:ext cx="932337" cy="503804"/>
            </a:xfrm>
            <a:prstGeom prst="rect">
              <a:avLst/>
            </a:prstGeom>
            <a:noFill/>
            <a:ln w="1905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00B0F0"/>
                </a:solidFill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7794D848-75BA-453B-8644-CD92BDC15E64}"/>
                </a:ext>
              </a:extLst>
            </p:cNvPr>
            <p:cNvSpPr txBox="1"/>
            <p:nvPr/>
          </p:nvSpPr>
          <p:spPr>
            <a:xfrm>
              <a:off x="10688098" y="4995521"/>
              <a:ext cx="92261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srgbClr val="FFFF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…</a:t>
              </a:r>
              <a:endParaRPr lang="ko-KR" altLang="en-US" sz="1400" dirty="0">
                <a:solidFill>
                  <a:srgbClr val="FFFF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2A4F3B33-BD49-464F-B694-B71A045131B3}"/>
                </a:ext>
              </a:extLst>
            </p:cNvPr>
            <p:cNvCxnSpPr>
              <a:cxnSpLocks/>
            </p:cNvCxnSpPr>
            <p:nvPr/>
          </p:nvCxnSpPr>
          <p:spPr>
            <a:xfrm>
              <a:off x="11816316" y="4497253"/>
              <a:ext cx="0" cy="806045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4F370B7-D839-4253-95C5-F9D54D4CB37E}"/>
                </a:ext>
              </a:extLst>
            </p:cNvPr>
            <p:cNvSpPr txBox="1"/>
            <p:nvPr/>
          </p:nvSpPr>
          <p:spPr>
            <a:xfrm>
              <a:off x="9035218" y="5319356"/>
              <a:ext cx="2862883" cy="307777"/>
            </a:xfrm>
            <a:prstGeom prst="rect">
              <a:avLst/>
            </a:prstGeom>
            <a:noFill/>
          </p:spPr>
          <p:txBody>
            <a:bodyPr wrap="square" rIns="0" rtlCol="0">
              <a:spAutoFit/>
            </a:bodyPr>
            <a:lstStyle/>
            <a:p>
              <a:pPr algn="r"/>
              <a:r>
                <a:rPr lang="ko-KR" altLang="en-US" sz="1400" dirty="0">
                  <a:solidFill>
                    <a:srgbClr val="FF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가중치</a:t>
              </a:r>
              <a:r>
                <a:rPr lang="en-US" altLang="ko-KR" sz="1400" dirty="0">
                  <a:solidFill>
                    <a:srgbClr val="FF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(1): 0.0001%</a:t>
              </a:r>
              <a:endParaRPr lang="ko-KR" altLang="en-US" sz="1400" dirty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7A18BEC3-F60E-4705-902A-BD7D17302389}"/>
              </a:ext>
            </a:extLst>
          </p:cNvPr>
          <p:cNvCxnSpPr>
            <a:cxnSpLocks/>
          </p:cNvCxnSpPr>
          <p:nvPr/>
        </p:nvCxnSpPr>
        <p:spPr>
          <a:xfrm>
            <a:off x="930234" y="6555180"/>
            <a:ext cx="10426535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타원 1">
            <a:extLst>
              <a:ext uri="{FF2B5EF4-FFF2-40B4-BE49-F238E27FC236}">
                <a16:creationId xmlns:a16="http://schemas.microsoft.com/office/drawing/2014/main" id="{9B7CC9BF-930E-4D33-808A-ADAD7633C25D}"/>
              </a:ext>
            </a:extLst>
          </p:cNvPr>
          <p:cNvSpPr/>
          <p:nvPr/>
        </p:nvSpPr>
        <p:spPr>
          <a:xfrm>
            <a:off x="11715244" y="4453655"/>
            <a:ext cx="198000" cy="198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6963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57C11D5-3EFA-471C-9916-B4A23693C69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443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8C17D7-5C04-43AB-8DB6-72AE06BD714A}"/>
              </a:ext>
            </a:extLst>
          </p:cNvPr>
          <p:cNvSpPr txBox="1"/>
          <p:nvPr/>
        </p:nvSpPr>
        <p:spPr>
          <a:xfrm>
            <a:off x="318439" y="434882"/>
            <a:ext cx="27302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왜</a:t>
            </a:r>
            <a:r>
              <a:rPr lang="ko-KR" altLang="en-US" sz="2800" dirty="0">
                <a:solidFill>
                  <a:srgbClr val="00B0F0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누적 차감</a:t>
            </a:r>
            <a:r>
              <a:rPr lang="ko-KR" altLang="en-US" sz="28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인가</a:t>
            </a:r>
            <a:r>
              <a:rPr lang="en-US" altLang="ko-KR" sz="28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?</a:t>
            </a:r>
            <a:endParaRPr lang="ko-KR" altLang="en-US" sz="28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118D0C-ABD6-4DFB-A0BC-75F096014B43}"/>
              </a:ext>
            </a:extLst>
          </p:cNvPr>
          <p:cNvSpPr txBox="1"/>
          <p:nvPr/>
        </p:nvSpPr>
        <p:spPr>
          <a:xfrm>
            <a:off x="318439" y="1552353"/>
            <a:ext cx="2287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8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컴퓨터의 효율적인 연산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46F21A2-F323-4521-8397-2CE2441CFDCD}"/>
              </a:ext>
            </a:extLst>
          </p:cNvPr>
          <p:cNvSpPr txBox="1"/>
          <p:nvPr/>
        </p:nvSpPr>
        <p:spPr>
          <a:xfrm>
            <a:off x="318439" y="2332074"/>
            <a:ext cx="577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dirty="0">
                <a:solidFill>
                  <a:schemeClr val="accent5">
                    <a:lumMod val="40000"/>
                    <a:lumOff val="6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주사위 결과가 특정 범위</a:t>
            </a:r>
            <a:r>
              <a:rPr lang="en-US" altLang="ko-KR" sz="1800" dirty="0">
                <a:solidFill>
                  <a:schemeClr val="accent5">
                    <a:lumMod val="40000"/>
                    <a:lumOff val="6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(</a:t>
            </a:r>
            <a:r>
              <a:rPr lang="ko-KR" altLang="en-US" sz="1800" dirty="0">
                <a:solidFill>
                  <a:schemeClr val="accent5">
                    <a:lumMod val="40000"/>
                    <a:lumOff val="6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예</a:t>
            </a:r>
            <a:r>
              <a:rPr lang="en-US" altLang="ko-KR" sz="1800" dirty="0">
                <a:solidFill>
                  <a:schemeClr val="accent5">
                    <a:lumMod val="40000"/>
                    <a:lumOff val="6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: 959,001~999,999)</a:t>
            </a:r>
            <a:r>
              <a:rPr lang="ko-KR" altLang="en-US" sz="1800" dirty="0">
                <a:solidFill>
                  <a:schemeClr val="accent5">
                    <a:lumMod val="40000"/>
                    <a:lumOff val="6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에 있는지 일일이 대조하는 것은 비효율적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A5E40277-2F8C-40CD-B0D3-38337CC04ED3}"/>
              </a:ext>
            </a:extLst>
          </p:cNvPr>
          <p:cNvSpPr/>
          <p:nvPr/>
        </p:nvSpPr>
        <p:spPr>
          <a:xfrm>
            <a:off x="318439" y="3388793"/>
            <a:ext cx="5777560" cy="3034325"/>
          </a:xfrm>
          <a:prstGeom prst="roundRect">
            <a:avLst>
              <a:gd name="adj" fmla="val 3307"/>
            </a:avLst>
          </a:prstGeom>
          <a:solidFill>
            <a:schemeClr val="tx2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4434192-6860-4528-8745-DDD266981502}"/>
              </a:ext>
            </a:extLst>
          </p:cNvPr>
          <p:cNvSpPr txBox="1"/>
          <p:nvPr/>
        </p:nvSpPr>
        <p:spPr>
          <a:xfrm>
            <a:off x="619964" y="4089991"/>
            <a:ext cx="5174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반복문</a:t>
            </a:r>
            <a:r>
              <a:rPr lang="en-US" altLang="ko-KR" sz="1600" dirty="0">
                <a:solidFill>
                  <a:schemeClr val="accent5">
                    <a:lumMod val="40000"/>
                    <a:lumOff val="6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(for) </a:t>
            </a:r>
            <a:r>
              <a:rPr lang="ko-KR" altLang="en-US" sz="1600" dirty="0">
                <a:solidFill>
                  <a:schemeClr val="accent5">
                    <a:lumMod val="40000"/>
                    <a:lumOff val="6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돌면서 빼기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5C74A9D-9F49-4206-BA01-D5FAE0E96383}"/>
              </a:ext>
            </a:extLst>
          </p:cNvPr>
          <p:cNvSpPr txBox="1"/>
          <p:nvPr/>
        </p:nvSpPr>
        <p:spPr>
          <a:xfrm>
            <a:off x="619964" y="4548870"/>
            <a:ext cx="51745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accent5">
                    <a:lumMod val="60000"/>
                    <a:lumOff val="4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컴퓨터가 가장 잘하는 연산 방식을 채택하여 코드를 간결하고 빠르게 유지함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A34D7188-D550-453B-AA5A-E6B3C0EB467A}"/>
              </a:ext>
            </a:extLst>
          </p:cNvPr>
          <p:cNvGrpSpPr/>
          <p:nvPr/>
        </p:nvGrpSpPr>
        <p:grpSpPr>
          <a:xfrm>
            <a:off x="6414438" y="1546216"/>
            <a:ext cx="5459123" cy="646331"/>
            <a:chOff x="6414438" y="1546216"/>
            <a:chExt cx="5459123" cy="646331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F6FE6FBB-8386-4293-985E-4D6B3226DAC0}"/>
                </a:ext>
              </a:extLst>
            </p:cNvPr>
            <p:cNvSpPr txBox="1"/>
            <p:nvPr/>
          </p:nvSpPr>
          <p:spPr>
            <a:xfrm>
              <a:off x="6645398" y="1546216"/>
              <a:ext cx="522816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solidFill>
                    <a:srgbClr val="00B0F0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가변적 데이터 대응</a:t>
              </a:r>
              <a:r>
                <a:rPr lang="en-US" altLang="ko-KR" dirty="0">
                  <a:solidFill>
                    <a:schemeClr val="accent5">
                      <a:lumMod val="40000"/>
                      <a:lumOff val="60000"/>
                    </a:schemeClr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: </a:t>
              </a:r>
              <a:r>
                <a:rPr lang="ko-KR" altLang="en-US" dirty="0">
                  <a:solidFill>
                    <a:schemeClr val="accent5">
                      <a:lumMod val="40000"/>
                      <a:lumOff val="60000"/>
                    </a:schemeClr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아이템이 </a:t>
              </a:r>
              <a:r>
                <a:rPr lang="en-US" altLang="ko-KR" dirty="0">
                  <a:solidFill>
                    <a:schemeClr val="accent5">
                      <a:lumMod val="40000"/>
                      <a:lumOff val="60000"/>
                    </a:schemeClr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10</a:t>
              </a:r>
              <a:r>
                <a:rPr lang="ko-KR" altLang="en-US" dirty="0">
                  <a:solidFill>
                    <a:schemeClr val="accent5">
                      <a:lumMod val="40000"/>
                      <a:lumOff val="60000"/>
                    </a:schemeClr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개든 </a:t>
              </a:r>
              <a:r>
                <a:rPr lang="en-US" altLang="ko-KR" dirty="0">
                  <a:solidFill>
                    <a:schemeClr val="accent5">
                      <a:lumMod val="40000"/>
                      <a:lumOff val="60000"/>
                    </a:schemeClr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1,000</a:t>
              </a:r>
              <a:r>
                <a:rPr lang="ko-KR" altLang="en-US" dirty="0">
                  <a:solidFill>
                    <a:schemeClr val="accent5">
                      <a:lumMod val="40000"/>
                      <a:lumOff val="60000"/>
                    </a:schemeClr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개든 코드 변경 불필요</a:t>
              </a:r>
            </a:p>
          </p:txBody>
        </p:sp>
        <p:pic>
          <p:nvPicPr>
            <p:cNvPr id="49" name="그림 48">
              <a:extLst>
                <a:ext uri="{FF2B5EF4-FFF2-40B4-BE49-F238E27FC236}">
                  <a16:creationId xmlns:a16="http://schemas.microsoft.com/office/drawing/2014/main" id="{5912D15B-02D9-48FE-B8D9-0E9BD20EE0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14438" y="1620019"/>
              <a:ext cx="234000" cy="234000"/>
            </a:xfrm>
            <a:prstGeom prst="rect">
              <a:avLst/>
            </a:prstGeom>
          </p:spPr>
        </p:pic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FF75013C-A168-4836-A704-77D8F6CA9D91}"/>
              </a:ext>
            </a:extLst>
          </p:cNvPr>
          <p:cNvGrpSpPr/>
          <p:nvPr/>
        </p:nvGrpSpPr>
        <p:grpSpPr>
          <a:xfrm>
            <a:off x="6414438" y="2648626"/>
            <a:ext cx="4602926" cy="369332"/>
            <a:chOff x="6414438" y="2050025"/>
            <a:chExt cx="4602926" cy="369332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0AC13C0-CABA-4A76-A260-E3DA5AB5B4EC}"/>
                </a:ext>
              </a:extLst>
            </p:cNvPr>
            <p:cNvSpPr txBox="1"/>
            <p:nvPr/>
          </p:nvSpPr>
          <p:spPr>
            <a:xfrm>
              <a:off x="6645398" y="2050025"/>
              <a:ext cx="43719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rgbClr val="00B0F0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유지보수 용이</a:t>
              </a:r>
              <a:r>
                <a:rPr lang="en-US" altLang="ko-KR" dirty="0">
                  <a:solidFill>
                    <a:schemeClr val="accent5">
                      <a:lumMod val="40000"/>
                      <a:lumOff val="60000"/>
                    </a:schemeClr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: </a:t>
              </a:r>
              <a:r>
                <a:rPr lang="en-US" altLang="ko-KR" dirty="0" err="1">
                  <a:solidFill>
                    <a:schemeClr val="accent5">
                      <a:lumMod val="40000"/>
                      <a:lumOff val="60000"/>
                    </a:schemeClr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DropTable</a:t>
              </a:r>
              <a:r>
                <a:rPr lang="en-US" altLang="ko-KR" dirty="0">
                  <a:solidFill>
                    <a:schemeClr val="accent5">
                      <a:lumMod val="40000"/>
                      <a:lumOff val="60000"/>
                    </a:schemeClr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 </a:t>
              </a:r>
              <a:r>
                <a:rPr lang="ko-KR" altLang="en-US" dirty="0">
                  <a:solidFill>
                    <a:schemeClr val="accent5">
                      <a:lumMod val="40000"/>
                      <a:lumOff val="60000"/>
                    </a:schemeClr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로직의 고정화 가능</a:t>
              </a:r>
            </a:p>
          </p:txBody>
        </p:sp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8A1CFD3A-D8C1-41C9-B962-04DFFBDF04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14438" y="2123828"/>
              <a:ext cx="234000" cy="234000"/>
            </a:xfrm>
            <a:prstGeom prst="rect">
              <a:avLst/>
            </a:prstGeom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D9F1D058-CDA3-43C4-AE34-FD33356FED58}"/>
              </a:ext>
            </a:extLst>
          </p:cNvPr>
          <p:cNvGrpSpPr/>
          <p:nvPr/>
        </p:nvGrpSpPr>
        <p:grpSpPr>
          <a:xfrm>
            <a:off x="6414438" y="3474038"/>
            <a:ext cx="5459122" cy="646331"/>
            <a:chOff x="6414438" y="3474038"/>
            <a:chExt cx="5459122" cy="646331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2D8C9DB-145D-4E7C-9C8C-539379DAE17A}"/>
                </a:ext>
              </a:extLst>
            </p:cNvPr>
            <p:cNvSpPr txBox="1"/>
            <p:nvPr/>
          </p:nvSpPr>
          <p:spPr>
            <a:xfrm>
              <a:off x="6645398" y="3474038"/>
              <a:ext cx="52281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solidFill>
                    <a:srgbClr val="00B0F0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수학적 완벽성</a:t>
              </a:r>
              <a:r>
                <a:rPr lang="en-US" altLang="ko-KR" dirty="0">
                  <a:solidFill>
                    <a:schemeClr val="accent5">
                      <a:lumMod val="40000"/>
                      <a:lumOff val="60000"/>
                    </a:schemeClr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: </a:t>
              </a:r>
              <a:r>
                <a:rPr lang="ko-KR" altLang="en-US" dirty="0">
                  <a:solidFill>
                    <a:schemeClr val="accent5">
                      <a:lumMod val="40000"/>
                      <a:lumOff val="60000"/>
                    </a:schemeClr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총합</a:t>
              </a:r>
              <a:r>
                <a:rPr lang="en-US" altLang="ko-KR" dirty="0">
                  <a:solidFill>
                    <a:schemeClr val="accent5">
                      <a:lumMod val="40000"/>
                      <a:lumOff val="60000"/>
                    </a:schemeClr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(Total) </a:t>
              </a:r>
              <a:r>
                <a:rPr lang="ko-KR" altLang="en-US" dirty="0">
                  <a:solidFill>
                    <a:schemeClr val="accent5">
                      <a:lumMod val="40000"/>
                      <a:lumOff val="60000"/>
                    </a:schemeClr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대비 비율이 언제나 일정하게 유지</a:t>
              </a:r>
            </a:p>
          </p:txBody>
        </p:sp>
        <p:pic>
          <p:nvPicPr>
            <p:cNvPr id="45" name="그림 44">
              <a:extLst>
                <a:ext uri="{FF2B5EF4-FFF2-40B4-BE49-F238E27FC236}">
                  <a16:creationId xmlns:a16="http://schemas.microsoft.com/office/drawing/2014/main" id="{FFCBB224-6373-4EF9-9ACB-CCF96A9AD1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14438" y="3547841"/>
              <a:ext cx="234000" cy="234000"/>
            </a:xfrm>
            <a:prstGeom prst="rect">
              <a:avLst/>
            </a:prstGeom>
          </p:spPr>
        </p:pic>
      </p:grp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E6929060-C90F-46AF-B9F0-3882C7FD9909}"/>
              </a:ext>
            </a:extLst>
          </p:cNvPr>
          <p:cNvCxnSpPr>
            <a:cxnSpLocks/>
          </p:cNvCxnSpPr>
          <p:nvPr/>
        </p:nvCxnSpPr>
        <p:spPr>
          <a:xfrm>
            <a:off x="930234" y="6555180"/>
            <a:ext cx="10426535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3706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57C11D5-3EFA-471C-9916-B4A23693C69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443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8C17D7-5C04-43AB-8DB6-72AE06BD714A}"/>
              </a:ext>
            </a:extLst>
          </p:cNvPr>
          <p:cNvSpPr txBox="1"/>
          <p:nvPr/>
        </p:nvSpPr>
        <p:spPr>
          <a:xfrm>
            <a:off x="318439" y="434882"/>
            <a:ext cx="58897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퍼센트</a:t>
            </a:r>
            <a:r>
              <a:rPr lang="en-US" altLang="ko-KR" sz="28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(%)</a:t>
            </a:r>
            <a:r>
              <a:rPr lang="ko-KR" altLang="en-US" sz="28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가 아닌 </a:t>
            </a:r>
            <a:r>
              <a:rPr lang="ko-KR" altLang="en-US" sz="2800" dirty="0">
                <a:solidFill>
                  <a:srgbClr val="00B0F0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정수</a:t>
            </a:r>
            <a:r>
              <a:rPr lang="en-US" altLang="ko-KR" sz="2800" dirty="0">
                <a:solidFill>
                  <a:srgbClr val="00B0F0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(Int)</a:t>
            </a:r>
            <a:r>
              <a:rPr lang="ko-KR" altLang="en-US" sz="28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를 쓰는 이유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02FD2E6-6E6A-463F-8A18-BF1A0C7EC185}"/>
              </a:ext>
            </a:extLst>
          </p:cNvPr>
          <p:cNvSpPr/>
          <p:nvPr/>
        </p:nvSpPr>
        <p:spPr>
          <a:xfrm>
            <a:off x="6313718" y="1213989"/>
            <a:ext cx="5493816" cy="4967069"/>
          </a:xfrm>
          <a:prstGeom prst="roundRect">
            <a:avLst>
              <a:gd name="adj" fmla="val 3307"/>
            </a:avLst>
          </a:prstGeom>
          <a:solidFill>
            <a:srgbClr val="0B162A"/>
          </a:solidFill>
          <a:ln w="63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F30BA5B-D193-4BB1-A509-783496B28719}"/>
              </a:ext>
            </a:extLst>
          </p:cNvPr>
          <p:cNvSpPr txBox="1"/>
          <p:nvPr/>
        </p:nvSpPr>
        <p:spPr>
          <a:xfrm>
            <a:off x="6631660" y="2100720"/>
            <a:ext cx="48579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rgbClr val="00B0F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해결책</a:t>
            </a:r>
            <a:r>
              <a:rPr lang="en-US" altLang="ko-KR" sz="3200" dirty="0">
                <a:solidFill>
                  <a:srgbClr val="00B0F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: Raw Weight (</a:t>
            </a:r>
            <a:r>
              <a:rPr lang="ko-KR" altLang="en-US" sz="3200" dirty="0">
                <a:solidFill>
                  <a:srgbClr val="00B0F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정수</a:t>
            </a:r>
            <a:r>
              <a:rPr lang="en-US" altLang="ko-KR" sz="3200" dirty="0">
                <a:solidFill>
                  <a:srgbClr val="00B0F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)</a:t>
            </a:r>
            <a:endParaRPr lang="ko-KR" altLang="en-US" sz="3200" dirty="0">
              <a:solidFill>
                <a:srgbClr val="00B0F0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3F71EBE-DA05-4A1E-A179-9AEC2E97D77E}"/>
              </a:ext>
            </a:extLst>
          </p:cNvPr>
          <p:cNvSpPr txBox="1"/>
          <p:nvPr/>
        </p:nvSpPr>
        <p:spPr>
          <a:xfrm>
            <a:off x="6577272" y="2930153"/>
            <a:ext cx="49667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기획 데이터에 정수를 쓰고 연산 시 </a:t>
            </a:r>
            <a:r>
              <a:rPr lang="en-US" altLang="ko-KR" sz="1600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to_int</a:t>
            </a:r>
            <a:r>
              <a:rPr lang="en-US" altLang="ko-KR"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()</a:t>
            </a:r>
            <a:r>
              <a:rPr lang="ko-KR" altLang="en-US"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로 유도하여 오차 없는 완벽한 드롭 시스템을 구축</a:t>
            </a:r>
            <a:endParaRPr lang="ko-KR" altLang="en-US" sz="1600" dirty="0">
              <a:solidFill>
                <a:schemeClr val="accent5">
                  <a:lumMod val="20000"/>
                  <a:lumOff val="80000"/>
                </a:schemeClr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14C78049-604E-4900-9CB4-E2FC50FCEF29}"/>
              </a:ext>
            </a:extLst>
          </p:cNvPr>
          <p:cNvSpPr/>
          <p:nvPr/>
        </p:nvSpPr>
        <p:spPr>
          <a:xfrm>
            <a:off x="318439" y="1213989"/>
            <a:ext cx="5559847" cy="4967069"/>
          </a:xfrm>
          <a:prstGeom prst="roundRect">
            <a:avLst>
              <a:gd name="adj" fmla="val 3307"/>
            </a:avLst>
          </a:prstGeom>
          <a:solidFill>
            <a:srgbClr val="0B162A"/>
          </a:solidFill>
          <a:ln w="63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C236990-8D6E-4017-9E6B-E0B3BC1296F5}"/>
              </a:ext>
            </a:extLst>
          </p:cNvPr>
          <p:cNvSpPr txBox="1"/>
          <p:nvPr/>
        </p:nvSpPr>
        <p:spPr>
          <a:xfrm>
            <a:off x="848525" y="2100720"/>
            <a:ext cx="45223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dirty="0">
                <a:solidFill>
                  <a:srgbClr val="00B0F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0.1 + 0.2 != 0.3</a:t>
            </a:r>
            <a:endParaRPr lang="ko-KR" altLang="en-US" sz="4800" dirty="0">
              <a:solidFill>
                <a:srgbClr val="00B0F0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547FED-3A17-4EC0-994C-81E1FC95D26F}"/>
              </a:ext>
            </a:extLst>
          </p:cNvPr>
          <p:cNvSpPr txBox="1"/>
          <p:nvPr/>
        </p:nvSpPr>
        <p:spPr>
          <a:xfrm>
            <a:off x="596518" y="2930153"/>
            <a:ext cx="50264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부동소수점 오차 </a:t>
            </a:r>
            <a:r>
              <a:rPr lang="en-US" altLang="ko-KR"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(Floating-point error)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486A308-5B52-400B-A23E-F067D43B69C9}"/>
              </a:ext>
            </a:extLst>
          </p:cNvPr>
          <p:cNvSpPr txBox="1"/>
          <p:nvPr/>
        </p:nvSpPr>
        <p:spPr>
          <a:xfrm>
            <a:off x="573802" y="4217108"/>
            <a:ext cx="502640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컴퓨터의 메모리</a:t>
            </a:r>
            <a:r>
              <a:rPr lang="en-US" altLang="ko-KR"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(</a:t>
            </a:r>
            <a:r>
              <a:rPr lang="ko-KR" altLang="en-US"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한정된 비트 수</a:t>
            </a:r>
            <a:r>
              <a:rPr lang="en-US" altLang="ko-KR"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)</a:t>
            </a:r>
            <a:r>
              <a:rPr lang="ko-KR" altLang="en-US"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는 무한한 </a:t>
            </a:r>
            <a:r>
              <a:rPr lang="ko-KR" altLang="en-US" sz="1600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소숫점을</a:t>
            </a:r>
            <a:r>
              <a:rPr lang="ko-KR" altLang="en-US"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다 담을 수 없기 때문에</a:t>
            </a:r>
            <a:r>
              <a:rPr lang="en-US" altLang="ko-KR"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특정 자리에서 숫자를 강제로 반올림하거나 잘라내어 저장함</a:t>
            </a:r>
            <a:r>
              <a:rPr lang="en-US" altLang="ko-KR"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 </a:t>
            </a:r>
            <a:r>
              <a:rPr lang="ko-KR" altLang="en-US"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이 과정에서 미세한 쓰레기 값</a:t>
            </a:r>
            <a:r>
              <a:rPr lang="en-US" altLang="ko-KR"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(</a:t>
            </a:r>
            <a:r>
              <a:rPr lang="ko-KR" altLang="en-US"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오차</a:t>
            </a:r>
            <a:r>
              <a:rPr lang="en-US" altLang="ko-KR"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)</a:t>
            </a:r>
            <a:r>
              <a:rPr lang="ko-KR" altLang="en-US"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이 발생하는 문제</a:t>
            </a:r>
            <a:endParaRPr lang="en-US" altLang="ko-KR" sz="1600" dirty="0">
              <a:solidFill>
                <a:schemeClr val="accent5">
                  <a:lumMod val="20000"/>
                  <a:lumOff val="80000"/>
                </a:schemeClr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487E0EB4-C05E-46CD-B1A9-E7A1F47CA5E5}"/>
              </a:ext>
            </a:extLst>
          </p:cNvPr>
          <p:cNvCxnSpPr>
            <a:cxnSpLocks/>
          </p:cNvCxnSpPr>
          <p:nvPr/>
        </p:nvCxnSpPr>
        <p:spPr>
          <a:xfrm>
            <a:off x="930234" y="6555180"/>
            <a:ext cx="10426535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9685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57C11D5-3EFA-471C-9916-B4A23693C69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443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8C17D7-5C04-43AB-8DB6-72AE06BD714A}"/>
              </a:ext>
            </a:extLst>
          </p:cNvPr>
          <p:cNvSpPr txBox="1"/>
          <p:nvPr/>
        </p:nvSpPr>
        <p:spPr>
          <a:xfrm>
            <a:off x="318439" y="434882"/>
            <a:ext cx="59105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최적의 효율을 보여주는</a:t>
            </a:r>
            <a:r>
              <a:rPr lang="en-US" altLang="ko-KR" sz="28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ko-KR" altLang="en-US" sz="2800" dirty="0">
                <a:solidFill>
                  <a:srgbClr val="00B0F0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두 개념의 시너지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6ED554-F245-4B08-853D-B8CEA8A10870}"/>
              </a:ext>
            </a:extLst>
          </p:cNvPr>
          <p:cNvSpPr txBox="1"/>
          <p:nvPr/>
        </p:nvSpPr>
        <p:spPr>
          <a:xfrm>
            <a:off x="318439" y="2014300"/>
            <a:ext cx="4722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B0F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</a:t>
            </a:r>
            <a:r>
              <a:rPr lang="ko-KR" altLang="en-US" dirty="0">
                <a:solidFill>
                  <a:srgbClr val="00B0F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단계</a:t>
            </a:r>
            <a:r>
              <a:rPr lang="en-US" altLang="ko-KR" dirty="0">
                <a:solidFill>
                  <a:srgbClr val="00B0F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: </a:t>
            </a:r>
            <a:r>
              <a:rPr lang="ko-KR" altLang="en-US" dirty="0">
                <a:solidFill>
                  <a:srgbClr val="00B0F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가중치 드롭 </a:t>
            </a:r>
            <a:r>
              <a:rPr lang="en-US" altLang="ko-KR" dirty="0">
                <a:solidFill>
                  <a:schemeClr val="accent5">
                    <a:lumMod val="40000"/>
                    <a:lumOff val="6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(</a:t>
            </a:r>
            <a:r>
              <a:rPr lang="ko-KR" altLang="en-US" dirty="0">
                <a:solidFill>
                  <a:schemeClr val="accent5">
                    <a:lumMod val="40000"/>
                    <a:lumOff val="6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아이템 </a:t>
            </a:r>
            <a:r>
              <a:rPr lang="en-US" altLang="ko-KR" dirty="0">
                <a:solidFill>
                  <a:schemeClr val="accent5">
                    <a:lumMod val="40000"/>
                    <a:lumOff val="6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'</a:t>
            </a:r>
            <a:r>
              <a:rPr lang="ko-KR" altLang="en-US" dirty="0">
                <a:solidFill>
                  <a:schemeClr val="accent5">
                    <a:lumMod val="40000"/>
                    <a:lumOff val="6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종류</a:t>
            </a:r>
            <a:r>
              <a:rPr lang="en-US" altLang="ko-KR" dirty="0">
                <a:solidFill>
                  <a:schemeClr val="accent5">
                    <a:lumMod val="40000"/>
                    <a:lumOff val="6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' </a:t>
            </a:r>
            <a:r>
              <a:rPr lang="ko-KR" altLang="en-US" dirty="0">
                <a:solidFill>
                  <a:schemeClr val="accent5">
                    <a:lumMod val="40000"/>
                    <a:lumOff val="6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결정</a:t>
            </a:r>
            <a:r>
              <a:rPr lang="en-US" altLang="ko-KR" dirty="0">
                <a:solidFill>
                  <a:schemeClr val="accent5">
                    <a:lumMod val="40000"/>
                    <a:lumOff val="6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)</a:t>
            </a:r>
            <a:endParaRPr lang="ko-KR" altLang="en-US" dirty="0">
              <a:solidFill>
                <a:schemeClr val="accent5">
                  <a:lumMod val="40000"/>
                  <a:lumOff val="60000"/>
                </a:schemeClr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8E0302-3758-43F9-87CC-4DCD4F45AFC3}"/>
              </a:ext>
            </a:extLst>
          </p:cNvPr>
          <p:cNvSpPr txBox="1"/>
          <p:nvPr/>
        </p:nvSpPr>
        <p:spPr>
          <a:xfrm>
            <a:off x="676285" y="2726046"/>
            <a:ext cx="5194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엑셀 가중치로 이번엔 </a:t>
            </a:r>
            <a:r>
              <a:rPr lang="en-US" altLang="ko-KR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"</a:t>
            </a:r>
            <a:r>
              <a:rPr lang="ko-KR" alt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할배검</a:t>
            </a:r>
            <a:r>
              <a:rPr lang="en-US" altLang="ko-KR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"</a:t>
            </a:r>
            <a:r>
              <a:rPr lang="ko-KR" alt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이 나오기로 결정</a:t>
            </a:r>
            <a:r>
              <a:rPr lang="en-US" altLang="ko-KR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!</a:t>
            </a:r>
            <a:endParaRPr lang="ko-KR" altLang="en-US" sz="1400" dirty="0">
              <a:solidFill>
                <a:schemeClr val="accent5">
                  <a:lumMod val="60000"/>
                  <a:lumOff val="40000"/>
                </a:schemeClr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C9616B-083F-4CE4-ADCE-6BFB50E5CC1C}"/>
              </a:ext>
            </a:extLst>
          </p:cNvPr>
          <p:cNvSpPr txBox="1"/>
          <p:nvPr/>
        </p:nvSpPr>
        <p:spPr>
          <a:xfrm>
            <a:off x="318439" y="3823340"/>
            <a:ext cx="4722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B0F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</a:t>
            </a:r>
            <a:r>
              <a:rPr lang="ko-KR" altLang="en-US" dirty="0">
                <a:solidFill>
                  <a:srgbClr val="00B0F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단계</a:t>
            </a:r>
            <a:r>
              <a:rPr lang="en-US" altLang="ko-KR" dirty="0">
                <a:solidFill>
                  <a:srgbClr val="00B0F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: </a:t>
            </a:r>
            <a:r>
              <a:rPr lang="ko-KR" altLang="en-US" dirty="0">
                <a:solidFill>
                  <a:srgbClr val="00B0F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정규분포</a:t>
            </a:r>
            <a:r>
              <a:rPr lang="ko-KR" altLang="en-US" dirty="0">
                <a:solidFill>
                  <a:schemeClr val="accent5">
                    <a:lumMod val="40000"/>
                    <a:lumOff val="6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dirty="0">
                <a:solidFill>
                  <a:schemeClr val="accent5">
                    <a:lumMod val="40000"/>
                    <a:lumOff val="6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(</a:t>
            </a:r>
            <a:r>
              <a:rPr lang="ko-KR" altLang="en-US" dirty="0">
                <a:solidFill>
                  <a:schemeClr val="accent5">
                    <a:lumMod val="40000"/>
                    <a:lumOff val="6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아이템 </a:t>
            </a:r>
            <a:r>
              <a:rPr lang="en-US" altLang="ko-KR" dirty="0">
                <a:solidFill>
                  <a:schemeClr val="accent5">
                    <a:lumMod val="40000"/>
                    <a:lumOff val="6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'</a:t>
            </a:r>
            <a:r>
              <a:rPr lang="ko-KR" altLang="en-US" dirty="0">
                <a:solidFill>
                  <a:schemeClr val="accent5">
                    <a:lumMod val="40000"/>
                    <a:lumOff val="6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세부 옵션</a:t>
            </a:r>
            <a:r>
              <a:rPr lang="en-US" altLang="ko-KR" dirty="0">
                <a:solidFill>
                  <a:schemeClr val="accent5">
                    <a:lumMod val="40000"/>
                    <a:lumOff val="6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' </a:t>
            </a:r>
            <a:r>
              <a:rPr lang="ko-KR" altLang="en-US" dirty="0">
                <a:solidFill>
                  <a:schemeClr val="accent5">
                    <a:lumMod val="40000"/>
                    <a:lumOff val="6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결정</a:t>
            </a:r>
            <a:r>
              <a:rPr lang="en-US" altLang="ko-KR" dirty="0">
                <a:solidFill>
                  <a:schemeClr val="accent5">
                    <a:lumMod val="40000"/>
                    <a:lumOff val="6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)</a:t>
            </a:r>
            <a:endParaRPr lang="ko-KR" altLang="en-US" dirty="0">
              <a:solidFill>
                <a:schemeClr val="accent5">
                  <a:lumMod val="40000"/>
                  <a:lumOff val="60000"/>
                </a:schemeClr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6CB3F1-7F7A-4CE8-BC2C-68AA2979B599}"/>
              </a:ext>
            </a:extLst>
          </p:cNvPr>
          <p:cNvSpPr txBox="1"/>
          <p:nvPr/>
        </p:nvSpPr>
        <p:spPr>
          <a:xfrm>
            <a:off x="676285" y="4535086"/>
            <a:ext cx="5194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공격력 평균 </a:t>
            </a:r>
            <a:r>
              <a:rPr lang="en-US" altLang="ko-KR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100 </a:t>
            </a:r>
            <a:r>
              <a:rPr lang="ko-KR" alt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근처에서 난수를 생성 → </a:t>
            </a:r>
            <a:r>
              <a:rPr lang="en-US" altLang="ko-KR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"</a:t>
            </a:r>
            <a:r>
              <a:rPr lang="ko-KR" alt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공격력 </a:t>
            </a:r>
            <a:r>
              <a:rPr lang="en-US" altLang="ko-KR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+102" </a:t>
            </a:r>
            <a:r>
              <a:rPr lang="ko-KR" alt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결정</a:t>
            </a:r>
            <a:r>
              <a:rPr lang="en-US" altLang="ko-KR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!</a:t>
            </a:r>
            <a:endParaRPr lang="ko-KR" altLang="en-US" sz="1400" dirty="0">
              <a:solidFill>
                <a:schemeClr val="accent5">
                  <a:lumMod val="60000"/>
                  <a:lumOff val="40000"/>
                </a:schemeClr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4408D61-22F6-4CF5-9C1D-B353EA35132D}"/>
              </a:ext>
            </a:extLst>
          </p:cNvPr>
          <p:cNvSpPr/>
          <p:nvPr/>
        </p:nvSpPr>
        <p:spPr>
          <a:xfrm>
            <a:off x="318438" y="5381289"/>
            <a:ext cx="5777561" cy="1098612"/>
          </a:xfrm>
          <a:prstGeom prst="roundRect">
            <a:avLst>
              <a:gd name="adj" fmla="val 3307"/>
            </a:avLst>
          </a:prstGeom>
          <a:solidFill>
            <a:schemeClr val="tx2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D8CC7B-080F-43B6-B65B-1BC8DA3040AE}"/>
              </a:ext>
            </a:extLst>
          </p:cNvPr>
          <p:cNvSpPr txBox="1"/>
          <p:nvPr/>
        </p:nvSpPr>
        <p:spPr>
          <a:xfrm>
            <a:off x="318438" y="5699169"/>
            <a:ext cx="57775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chemeClr val="accent5">
                    <a:lumMod val="40000"/>
                    <a:lumOff val="6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최종 결과물</a:t>
            </a:r>
            <a:r>
              <a:rPr lang="en-US" altLang="ko-KR" sz="1600" dirty="0">
                <a:solidFill>
                  <a:schemeClr val="accent5">
                    <a:lumMod val="40000"/>
                    <a:lumOff val="6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: </a:t>
            </a:r>
            <a:r>
              <a:rPr lang="en-US" altLang="ko-KR" sz="1600" dirty="0">
                <a:solidFill>
                  <a:srgbClr val="00B0F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"</a:t>
            </a:r>
            <a:r>
              <a:rPr lang="ko-KR" altLang="en-US" sz="1600" dirty="0">
                <a:solidFill>
                  <a:srgbClr val="00B0F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공격력 </a:t>
            </a:r>
            <a:r>
              <a:rPr lang="en-US" altLang="ko-KR" sz="1600" dirty="0">
                <a:solidFill>
                  <a:srgbClr val="00B0F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+102 </a:t>
            </a:r>
            <a:r>
              <a:rPr lang="ko-KR" altLang="en-US" sz="1600" dirty="0">
                <a:solidFill>
                  <a:srgbClr val="00B0F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옵션이 붙은 </a:t>
            </a:r>
            <a:r>
              <a:rPr lang="ko-KR" altLang="en-US" sz="1600" dirty="0" err="1">
                <a:solidFill>
                  <a:srgbClr val="00B0F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할배검</a:t>
            </a:r>
            <a:r>
              <a:rPr lang="en-US" altLang="ko-KR" sz="1600" dirty="0">
                <a:solidFill>
                  <a:srgbClr val="00B0F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"</a:t>
            </a:r>
            <a:r>
              <a:rPr lang="en-US" altLang="ko-KR" sz="1600" dirty="0">
                <a:solidFill>
                  <a:schemeClr val="accent5">
                    <a:lumMod val="40000"/>
                    <a:lumOff val="6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ko-KR" altLang="en-US" sz="1600" dirty="0">
                <a:solidFill>
                  <a:schemeClr val="accent5">
                    <a:lumMod val="40000"/>
                    <a:lumOff val="6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드롭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C251125-3706-4A93-8A45-2FA4CD2D311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19" r="25919"/>
          <a:stretch/>
        </p:blipFill>
        <p:spPr>
          <a:xfrm>
            <a:off x="6320414" y="1673"/>
            <a:ext cx="5871986" cy="6854653"/>
          </a:xfrm>
          <a:prstGeom prst="rect">
            <a:avLst/>
          </a:prstGeom>
          <a:effectLst>
            <a:softEdge rad="317500"/>
          </a:effectLst>
        </p:spPr>
      </p:pic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48D43DC8-A7B5-415D-BE2E-105C103BBF16}"/>
              </a:ext>
            </a:extLst>
          </p:cNvPr>
          <p:cNvCxnSpPr>
            <a:cxnSpLocks/>
          </p:cNvCxnSpPr>
          <p:nvPr/>
        </p:nvCxnSpPr>
        <p:spPr>
          <a:xfrm>
            <a:off x="930234" y="6555180"/>
            <a:ext cx="10426535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8634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57C11D5-3EFA-471C-9916-B4A23693C69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443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1CA14AF0-525A-4253-B0E7-462466BABEE8}"/>
              </a:ext>
            </a:extLst>
          </p:cNvPr>
          <p:cNvSpPr/>
          <p:nvPr/>
        </p:nvSpPr>
        <p:spPr>
          <a:xfrm>
            <a:off x="318439" y="1213074"/>
            <a:ext cx="5870368" cy="4991784"/>
          </a:xfrm>
          <a:prstGeom prst="roundRect">
            <a:avLst>
              <a:gd name="adj" fmla="val 3307"/>
            </a:avLst>
          </a:prstGeom>
          <a:solidFill>
            <a:schemeClr val="tx2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8C17D7-5C04-43AB-8DB6-72AE06BD714A}"/>
              </a:ext>
            </a:extLst>
          </p:cNvPr>
          <p:cNvSpPr txBox="1"/>
          <p:nvPr/>
        </p:nvSpPr>
        <p:spPr>
          <a:xfrm>
            <a:off x="318439" y="434882"/>
            <a:ext cx="4389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시스템을 지탱하는</a:t>
            </a:r>
            <a:r>
              <a:rPr lang="ko-KR" altLang="en-US" sz="2800" dirty="0">
                <a:solidFill>
                  <a:srgbClr val="00B0F0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2800" dirty="0">
                <a:solidFill>
                  <a:srgbClr val="00B0F0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4</a:t>
            </a:r>
            <a:r>
              <a:rPr lang="ko-KR" altLang="en-US" sz="2800" dirty="0">
                <a:solidFill>
                  <a:srgbClr val="00B0F0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개의 기둥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48D43DC8-A7B5-415D-BE2E-105C103BBF16}"/>
              </a:ext>
            </a:extLst>
          </p:cNvPr>
          <p:cNvCxnSpPr>
            <a:cxnSpLocks/>
          </p:cNvCxnSpPr>
          <p:nvPr/>
        </p:nvCxnSpPr>
        <p:spPr>
          <a:xfrm>
            <a:off x="372836" y="6555180"/>
            <a:ext cx="10426535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3927BD70-981C-4F5E-9A5B-D7726F16D19F}"/>
              </a:ext>
            </a:extLst>
          </p:cNvPr>
          <p:cNvGrpSpPr/>
          <p:nvPr/>
        </p:nvGrpSpPr>
        <p:grpSpPr>
          <a:xfrm>
            <a:off x="6414438" y="1512136"/>
            <a:ext cx="5459123" cy="2593756"/>
            <a:chOff x="6414438" y="1546216"/>
            <a:chExt cx="5459123" cy="2593756"/>
          </a:xfrm>
        </p:grpSpPr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7946DCD8-16BD-4581-A6A9-025C7E79A53A}"/>
                </a:ext>
              </a:extLst>
            </p:cNvPr>
            <p:cNvGrpSpPr/>
            <p:nvPr/>
          </p:nvGrpSpPr>
          <p:grpSpPr>
            <a:xfrm>
              <a:off x="6414438" y="1546216"/>
              <a:ext cx="5459123" cy="646331"/>
              <a:chOff x="6414438" y="1546216"/>
              <a:chExt cx="5459123" cy="646331"/>
            </a:xfrm>
          </p:grpSpPr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346B27B9-5DCF-49D8-B9D7-5BA4A521E653}"/>
                  </a:ext>
                </a:extLst>
              </p:cNvPr>
              <p:cNvSpPr txBox="1"/>
              <p:nvPr/>
            </p:nvSpPr>
            <p:spPr>
              <a:xfrm>
                <a:off x="6645398" y="1546216"/>
                <a:ext cx="522816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 err="1">
                    <a:solidFill>
                      <a:srgbClr val="00B0F0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LoadManager</a:t>
                </a:r>
                <a:r>
                  <a:rPr lang="en-US" altLang="ko-KR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: CSV </a:t>
                </a:r>
                <a:r>
                  <a:rPr lang="ko-KR" altLang="en-US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데이터를 안전하게 엔진으로 긁어오는 파서</a:t>
                </a:r>
              </a:p>
            </p:txBody>
          </p:sp>
          <p:pic>
            <p:nvPicPr>
              <p:cNvPr id="49" name="그림 48">
                <a:extLst>
                  <a:ext uri="{FF2B5EF4-FFF2-40B4-BE49-F238E27FC236}">
                    <a16:creationId xmlns:a16="http://schemas.microsoft.com/office/drawing/2014/main" id="{075C03C4-EAAC-4037-BB75-27B50F560D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414438" y="1620019"/>
                <a:ext cx="234000" cy="234000"/>
              </a:xfrm>
              <a:prstGeom prst="rect">
                <a:avLst/>
              </a:prstGeom>
            </p:spPr>
          </p:pic>
        </p:grp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63BE8129-B68A-4580-A6DC-04DAA74E3FD0}"/>
                </a:ext>
              </a:extLst>
            </p:cNvPr>
            <p:cNvGrpSpPr/>
            <p:nvPr/>
          </p:nvGrpSpPr>
          <p:grpSpPr>
            <a:xfrm>
              <a:off x="6414438" y="2380024"/>
              <a:ext cx="5459123" cy="646331"/>
              <a:chOff x="6414438" y="1546216"/>
              <a:chExt cx="5459123" cy="646331"/>
            </a:xfrm>
          </p:grpSpPr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9D7BC669-8DAA-4168-B990-8D11C41CA413}"/>
                  </a:ext>
                </a:extLst>
              </p:cNvPr>
              <p:cNvSpPr txBox="1"/>
              <p:nvPr/>
            </p:nvSpPr>
            <p:spPr>
              <a:xfrm>
                <a:off x="6645398" y="1546216"/>
                <a:ext cx="522816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 err="1">
                    <a:solidFill>
                      <a:srgbClr val="00B0F0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DataManager</a:t>
                </a:r>
                <a:r>
                  <a:rPr lang="en-US" altLang="ko-KR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: </a:t>
                </a:r>
                <a:r>
                  <a:rPr lang="ko-KR" altLang="en-US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전역</a:t>
                </a:r>
                <a:r>
                  <a:rPr lang="en-US" altLang="ko-KR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(Autoload)</a:t>
                </a:r>
                <a:r>
                  <a:rPr lang="ko-KR" altLang="en-US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에서 데이터를 보존하는 금고</a:t>
                </a:r>
              </a:p>
            </p:txBody>
          </p:sp>
          <p:pic>
            <p:nvPicPr>
              <p:cNvPr id="52" name="그림 51">
                <a:extLst>
                  <a:ext uri="{FF2B5EF4-FFF2-40B4-BE49-F238E27FC236}">
                    <a16:creationId xmlns:a16="http://schemas.microsoft.com/office/drawing/2014/main" id="{06FEB601-1B30-4D42-BBCD-6873E07888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414438" y="1620019"/>
                <a:ext cx="234000" cy="234000"/>
              </a:xfrm>
              <a:prstGeom prst="rect">
                <a:avLst/>
              </a:prstGeom>
            </p:spPr>
          </p:pic>
        </p:grp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099CD3B3-746F-4BFC-9828-C55F394CDE19}"/>
                </a:ext>
              </a:extLst>
            </p:cNvPr>
            <p:cNvGrpSpPr/>
            <p:nvPr/>
          </p:nvGrpSpPr>
          <p:grpSpPr>
            <a:xfrm>
              <a:off x="6414438" y="3213832"/>
              <a:ext cx="5459123" cy="369332"/>
              <a:chOff x="6414438" y="1546216"/>
              <a:chExt cx="5459123" cy="369332"/>
            </a:xfrm>
          </p:grpSpPr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20B0D06A-CCE3-40B5-8A6C-ABA1F20C89BB}"/>
                  </a:ext>
                </a:extLst>
              </p:cNvPr>
              <p:cNvSpPr txBox="1"/>
              <p:nvPr/>
            </p:nvSpPr>
            <p:spPr>
              <a:xfrm>
                <a:off x="6645398" y="1546216"/>
                <a:ext cx="52281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 err="1">
                    <a:solidFill>
                      <a:srgbClr val="00B0F0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DropTable</a:t>
                </a:r>
                <a:r>
                  <a:rPr lang="en-US" altLang="ko-KR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: </a:t>
                </a:r>
                <a:r>
                  <a:rPr lang="ko-KR" altLang="en-US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가중치 누적 차감 로직이 작동하는 </a:t>
                </a:r>
                <a:r>
                  <a:rPr lang="ko-KR" altLang="en-US" dirty="0" err="1">
                    <a:solidFill>
                      <a:schemeClr val="accent5">
                        <a:lumMod val="40000"/>
                        <a:lumOff val="60000"/>
                      </a:schemeClr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연산기</a:t>
                </a:r>
                <a:endParaRPr lang="ko-KR" altLang="en-US" dirty="0">
                  <a:solidFill>
                    <a:schemeClr val="accent5">
                      <a:lumMod val="40000"/>
                      <a:lumOff val="60000"/>
                    </a:schemeClr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endParaRPr>
              </a:p>
            </p:txBody>
          </p:sp>
          <p:pic>
            <p:nvPicPr>
              <p:cNvPr id="55" name="그림 54">
                <a:extLst>
                  <a:ext uri="{FF2B5EF4-FFF2-40B4-BE49-F238E27FC236}">
                    <a16:creationId xmlns:a16="http://schemas.microsoft.com/office/drawing/2014/main" id="{6CC3BCD7-BDB9-4C72-A818-580FF533E6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414438" y="1620019"/>
                <a:ext cx="234000" cy="234000"/>
              </a:xfrm>
              <a:prstGeom prst="rect">
                <a:avLst/>
              </a:prstGeom>
            </p:spPr>
          </p:pic>
        </p:grp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8517597C-61CD-40AB-8AD3-F9F4D432A21F}"/>
                </a:ext>
              </a:extLst>
            </p:cNvPr>
            <p:cNvGrpSpPr/>
            <p:nvPr/>
          </p:nvGrpSpPr>
          <p:grpSpPr>
            <a:xfrm>
              <a:off x="6414438" y="3770640"/>
              <a:ext cx="5459123" cy="369332"/>
              <a:chOff x="6414438" y="1546216"/>
              <a:chExt cx="5459123" cy="369332"/>
            </a:xfrm>
          </p:grpSpPr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ECC5C23-6904-4ABD-B651-7800AEBE0DFA}"/>
                  </a:ext>
                </a:extLst>
              </p:cNvPr>
              <p:cNvSpPr txBox="1"/>
              <p:nvPr/>
            </p:nvSpPr>
            <p:spPr>
              <a:xfrm>
                <a:off x="6645398" y="1546216"/>
                <a:ext cx="52281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>
                    <a:solidFill>
                      <a:srgbClr val="00B0F0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Main</a:t>
                </a:r>
                <a:r>
                  <a:rPr lang="en-US" altLang="ko-KR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: </a:t>
                </a:r>
                <a:r>
                  <a:rPr lang="ko-KR" altLang="en-US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유저 입력과 시스템을 연결하는 실전 컨트롤러</a:t>
                </a:r>
              </a:p>
            </p:txBody>
          </p:sp>
          <p:pic>
            <p:nvPicPr>
              <p:cNvPr id="58" name="그림 57">
                <a:extLst>
                  <a:ext uri="{FF2B5EF4-FFF2-40B4-BE49-F238E27FC236}">
                    <a16:creationId xmlns:a16="http://schemas.microsoft.com/office/drawing/2014/main" id="{8EF9A6D5-CF96-45B5-87E1-1AB0F0887E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414438" y="1620019"/>
                <a:ext cx="234000" cy="234000"/>
              </a:xfrm>
              <a:prstGeom prst="rect">
                <a:avLst/>
              </a:prstGeom>
            </p:spPr>
          </p:pic>
        </p:grpSp>
      </p:grp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C105B78F-8BCF-4003-86DC-0BDBC6518BB7}"/>
              </a:ext>
            </a:extLst>
          </p:cNvPr>
          <p:cNvGrpSpPr/>
          <p:nvPr/>
        </p:nvGrpSpPr>
        <p:grpSpPr>
          <a:xfrm>
            <a:off x="733623" y="1512136"/>
            <a:ext cx="5040000" cy="4393661"/>
            <a:chOff x="701386" y="1502229"/>
            <a:chExt cx="5040000" cy="4393661"/>
          </a:xfrm>
        </p:grpSpPr>
        <p:sp>
          <p:nvSpPr>
            <p:cNvPr id="2" name="이등변 삼각형 1">
              <a:extLst>
                <a:ext uri="{FF2B5EF4-FFF2-40B4-BE49-F238E27FC236}">
                  <a16:creationId xmlns:a16="http://schemas.microsoft.com/office/drawing/2014/main" id="{D0328C67-D2C1-48CB-A732-AAE578C5247D}"/>
                </a:ext>
              </a:extLst>
            </p:cNvPr>
            <p:cNvSpPr/>
            <p:nvPr/>
          </p:nvSpPr>
          <p:spPr>
            <a:xfrm>
              <a:off x="701386" y="1502229"/>
              <a:ext cx="5040000" cy="720000"/>
            </a:xfrm>
            <a:prstGeom prst="triangle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	</a:t>
              </a:r>
              <a:endParaRPr lang="ko-KR" altLang="en-US" dirty="0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9CFC7941-BEAE-4980-AE65-9DAF06F54596}"/>
                </a:ext>
              </a:extLst>
            </p:cNvPr>
            <p:cNvSpPr/>
            <p:nvPr/>
          </p:nvSpPr>
          <p:spPr>
            <a:xfrm>
              <a:off x="701386" y="5805890"/>
              <a:ext cx="5040000" cy="90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1" name="그룹 120">
              <a:extLst>
                <a:ext uri="{FF2B5EF4-FFF2-40B4-BE49-F238E27FC236}">
                  <a16:creationId xmlns:a16="http://schemas.microsoft.com/office/drawing/2014/main" id="{21B18FA2-12EC-4BDF-BFEA-BBEDC29D00E9}"/>
                </a:ext>
              </a:extLst>
            </p:cNvPr>
            <p:cNvGrpSpPr/>
            <p:nvPr/>
          </p:nvGrpSpPr>
          <p:grpSpPr>
            <a:xfrm>
              <a:off x="701386" y="2400186"/>
              <a:ext cx="1080000" cy="3244741"/>
              <a:chOff x="716389" y="2400186"/>
              <a:chExt cx="1080000" cy="3244741"/>
            </a:xfrm>
          </p:grpSpPr>
          <p:sp>
            <p:nvSpPr>
              <p:cNvPr id="4" name="사각형: 둥근 위쪽 모서리 3">
                <a:extLst>
                  <a:ext uri="{FF2B5EF4-FFF2-40B4-BE49-F238E27FC236}">
                    <a16:creationId xmlns:a16="http://schemas.microsoft.com/office/drawing/2014/main" id="{6D0E5579-795A-4A04-A0E3-3A388F10239B}"/>
                  </a:ext>
                </a:extLst>
              </p:cNvPr>
              <p:cNvSpPr/>
              <p:nvPr/>
            </p:nvSpPr>
            <p:spPr>
              <a:xfrm rot="10800000">
                <a:off x="806390" y="2400186"/>
                <a:ext cx="900000" cy="216000"/>
              </a:xfrm>
              <a:prstGeom prst="round2SameRect">
                <a:avLst>
                  <a:gd name="adj1" fmla="val 34127"/>
                  <a:gd name="adj2" fmla="val 0"/>
                </a:avLst>
              </a:prstGeom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117" name="그룹 116">
                <a:extLst>
                  <a:ext uri="{FF2B5EF4-FFF2-40B4-BE49-F238E27FC236}">
                    <a16:creationId xmlns:a16="http://schemas.microsoft.com/office/drawing/2014/main" id="{881AA2D0-DBA6-4EFE-83B4-554031E77EBB}"/>
                  </a:ext>
                </a:extLst>
              </p:cNvPr>
              <p:cNvGrpSpPr/>
              <p:nvPr/>
            </p:nvGrpSpPr>
            <p:grpSpPr>
              <a:xfrm>
                <a:off x="896389" y="2794025"/>
                <a:ext cx="720000" cy="583364"/>
                <a:chOff x="894848" y="2794025"/>
                <a:chExt cx="720000" cy="583364"/>
              </a:xfrm>
            </p:grpSpPr>
            <p:sp>
              <p:nvSpPr>
                <p:cNvPr id="61" name="자유형: 도형 60">
                  <a:extLst>
                    <a:ext uri="{FF2B5EF4-FFF2-40B4-BE49-F238E27FC236}">
                      <a16:creationId xmlns:a16="http://schemas.microsoft.com/office/drawing/2014/main" id="{A142E188-ED9F-4D84-9125-F268A0F8EFF9}"/>
                    </a:ext>
                  </a:extLst>
                </p:cNvPr>
                <p:cNvSpPr/>
                <p:nvPr/>
              </p:nvSpPr>
              <p:spPr>
                <a:xfrm>
                  <a:off x="894848" y="2794025"/>
                  <a:ext cx="720000" cy="464659"/>
                </a:xfrm>
                <a:custGeom>
                  <a:avLst/>
                  <a:gdLst>
                    <a:gd name="connsiteX0" fmla="*/ 0 w 720000"/>
                    <a:gd name="connsiteY0" fmla="*/ 0 h 464659"/>
                    <a:gd name="connsiteX1" fmla="*/ 720000 w 720000"/>
                    <a:gd name="connsiteY1" fmla="*/ 0 h 464659"/>
                    <a:gd name="connsiteX2" fmla="*/ 720000 w 720000"/>
                    <a:gd name="connsiteY2" fmla="*/ 94857 h 464659"/>
                    <a:gd name="connsiteX3" fmla="*/ 689986 w 720000"/>
                    <a:gd name="connsiteY3" fmla="*/ 140138 h 464659"/>
                    <a:gd name="connsiteX4" fmla="*/ 674883 w 720000"/>
                    <a:gd name="connsiteY4" fmla="*/ 143187 h 464659"/>
                    <a:gd name="connsiteX5" fmla="*/ 674883 w 720000"/>
                    <a:gd name="connsiteY5" fmla="*/ 464659 h 464659"/>
                    <a:gd name="connsiteX6" fmla="*/ 44883 w 720000"/>
                    <a:gd name="connsiteY6" fmla="*/ 464659 h 464659"/>
                    <a:gd name="connsiteX7" fmla="*/ 44883 w 720000"/>
                    <a:gd name="connsiteY7" fmla="*/ 143140 h 464659"/>
                    <a:gd name="connsiteX8" fmla="*/ 30014 w 720000"/>
                    <a:gd name="connsiteY8" fmla="*/ 140138 h 464659"/>
                    <a:gd name="connsiteX9" fmla="*/ 0 w 720000"/>
                    <a:gd name="connsiteY9" fmla="*/ 94857 h 464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720000" h="464659">
                      <a:moveTo>
                        <a:pt x="0" y="0"/>
                      </a:moveTo>
                      <a:lnTo>
                        <a:pt x="720000" y="0"/>
                      </a:lnTo>
                      <a:lnTo>
                        <a:pt x="720000" y="94857"/>
                      </a:lnTo>
                      <a:cubicBezTo>
                        <a:pt x="720000" y="115213"/>
                        <a:pt x="707624" y="132678"/>
                        <a:pt x="689986" y="140138"/>
                      </a:cubicBezTo>
                      <a:lnTo>
                        <a:pt x="674883" y="143187"/>
                      </a:lnTo>
                      <a:lnTo>
                        <a:pt x="674883" y="464659"/>
                      </a:lnTo>
                      <a:lnTo>
                        <a:pt x="44883" y="464659"/>
                      </a:lnTo>
                      <a:lnTo>
                        <a:pt x="44883" y="143140"/>
                      </a:lnTo>
                      <a:lnTo>
                        <a:pt x="30014" y="140138"/>
                      </a:lnTo>
                      <a:cubicBezTo>
                        <a:pt x="12376" y="132678"/>
                        <a:pt x="0" y="115213"/>
                        <a:pt x="0" y="94857"/>
                      </a:cubicBezTo>
                      <a:close/>
                    </a:path>
                  </a:pathLst>
                </a:cu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6" name="사각형: 둥근 모서리 65">
                  <a:extLst>
                    <a:ext uri="{FF2B5EF4-FFF2-40B4-BE49-F238E27FC236}">
                      <a16:creationId xmlns:a16="http://schemas.microsoft.com/office/drawing/2014/main" id="{4BDFC175-7557-4500-A898-F3B21BF78CC8}"/>
                    </a:ext>
                  </a:extLst>
                </p:cNvPr>
                <p:cNvSpPr/>
                <p:nvPr/>
              </p:nvSpPr>
              <p:spPr>
                <a:xfrm>
                  <a:off x="1041368" y="3162220"/>
                  <a:ext cx="108000" cy="21516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B162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7" name="사각형: 둥근 모서리 66">
                  <a:extLst>
                    <a:ext uri="{FF2B5EF4-FFF2-40B4-BE49-F238E27FC236}">
                      <a16:creationId xmlns:a16="http://schemas.microsoft.com/office/drawing/2014/main" id="{C9E92526-FA00-49AD-8AE4-1CCF9A2F8395}"/>
                    </a:ext>
                  </a:extLst>
                </p:cNvPr>
                <p:cNvSpPr/>
                <p:nvPr/>
              </p:nvSpPr>
              <p:spPr>
                <a:xfrm>
                  <a:off x="1343743" y="3162220"/>
                  <a:ext cx="108000" cy="21516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B162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97" name="사각형: 둥근 위쪽 모서리 96">
                <a:extLst>
                  <a:ext uri="{FF2B5EF4-FFF2-40B4-BE49-F238E27FC236}">
                    <a16:creationId xmlns:a16="http://schemas.microsoft.com/office/drawing/2014/main" id="{22A5A770-E696-45CF-A70E-D486276B6E19}"/>
                  </a:ext>
                </a:extLst>
              </p:cNvPr>
              <p:cNvSpPr/>
              <p:nvPr/>
            </p:nvSpPr>
            <p:spPr>
              <a:xfrm>
                <a:off x="806389" y="5428927"/>
                <a:ext cx="900000" cy="216000"/>
              </a:xfrm>
              <a:prstGeom prst="round2SameRect">
                <a:avLst>
                  <a:gd name="adj1" fmla="val 34127"/>
                  <a:gd name="adj2" fmla="val 0"/>
                </a:avLst>
              </a:prstGeom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116" name="그룹 115">
                <a:extLst>
                  <a:ext uri="{FF2B5EF4-FFF2-40B4-BE49-F238E27FC236}">
                    <a16:creationId xmlns:a16="http://schemas.microsoft.com/office/drawing/2014/main" id="{CD7E8158-BC07-4BC7-9D81-A0C8F90BA56F}"/>
                  </a:ext>
                </a:extLst>
              </p:cNvPr>
              <p:cNvGrpSpPr/>
              <p:nvPr/>
            </p:nvGrpSpPr>
            <p:grpSpPr>
              <a:xfrm>
                <a:off x="896389" y="4635772"/>
                <a:ext cx="720000" cy="583364"/>
                <a:chOff x="894849" y="4982380"/>
                <a:chExt cx="720000" cy="583364"/>
              </a:xfrm>
            </p:grpSpPr>
            <p:sp>
              <p:nvSpPr>
                <p:cNvPr id="101" name="자유형: 도형 100">
                  <a:extLst>
                    <a:ext uri="{FF2B5EF4-FFF2-40B4-BE49-F238E27FC236}">
                      <a16:creationId xmlns:a16="http://schemas.microsoft.com/office/drawing/2014/main" id="{704190BF-7482-473A-9673-78DE3F4B58C5}"/>
                    </a:ext>
                  </a:extLst>
                </p:cNvPr>
                <p:cNvSpPr/>
                <p:nvPr/>
              </p:nvSpPr>
              <p:spPr>
                <a:xfrm rot="10800000">
                  <a:off x="894849" y="5101085"/>
                  <a:ext cx="720000" cy="464659"/>
                </a:xfrm>
                <a:custGeom>
                  <a:avLst/>
                  <a:gdLst>
                    <a:gd name="connsiteX0" fmla="*/ 0 w 720000"/>
                    <a:gd name="connsiteY0" fmla="*/ 0 h 464659"/>
                    <a:gd name="connsiteX1" fmla="*/ 720000 w 720000"/>
                    <a:gd name="connsiteY1" fmla="*/ 0 h 464659"/>
                    <a:gd name="connsiteX2" fmla="*/ 720000 w 720000"/>
                    <a:gd name="connsiteY2" fmla="*/ 94857 h 464659"/>
                    <a:gd name="connsiteX3" fmla="*/ 689986 w 720000"/>
                    <a:gd name="connsiteY3" fmla="*/ 140138 h 464659"/>
                    <a:gd name="connsiteX4" fmla="*/ 674883 w 720000"/>
                    <a:gd name="connsiteY4" fmla="*/ 143187 h 464659"/>
                    <a:gd name="connsiteX5" fmla="*/ 674883 w 720000"/>
                    <a:gd name="connsiteY5" fmla="*/ 464659 h 464659"/>
                    <a:gd name="connsiteX6" fmla="*/ 44883 w 720000"/>
                    <a:gd name="connsiteY6" fmla="*/ 464659 h 464659"/>
                    <a:gd name="connsiteX7" fmla="*/ 44883 w 720000"/>
                    <a:gd name="connsiteY7" fmla="*/ 143140 h 464659"/>
                    <a:gd name="connsiteX8" fmla="*/ 30014 w 720000"/>
                    <a:gd name="connsiteY8" fmla="*/ 140138 h 464659"/>
                    <a:gd name="connsiteX9" fmla="*/ 0 w 720000"/>
                    <a:gd name="connsiteY9" fmla="*/ 94857 h 464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720000" h="464659">
                      <a:moveTo>
                        <a:pt x="0" y="0"/>
                      </a:moveTo>
                      <a:lnTo>
                        <a:pt x="720000" y="0"/>
                      </a:lnTo>
                      <a:lnTo>
                        <a:pt x="720000" y="94857"/>
                      </a:lnTo>
                      <a:cubicBezTo>
                        <a:pt x="720000" y="115213"/>
                        <a:pt x="707624" y="132678"/>
                        <a:pt x="689986" y="140138"/>
                      </a:cubicBezTo>
                      <a:lnTo>
                        <a:pt x="674883" y="143187"/>
                      </a:lnTo>
                      <a:lnTo>
                        <a:pt x="674883" y="464659"/>
                      </a:lnTo>
                      <a:lnTo>
                        <a:pt x="44883" y="464659"/>
                      </a:lnTo>
                      <a:lnTo>
                        <a:pt x="44883" y="143140"/>
                      </a:lnTo>
                      <a:lnTo>
                        <a:pt x="30014" y="140138"/>
                      </a:lnTo>
                      <a:cubicBezTo>
                        <a:pt x="12376" y="132678"/>
                        <a:pt x="0" y="115213"/>
                        <a:pt x="0" y="94857"/>
                      </a:cubicBezTo>
                      <a:close/>
                    </a:path>
                  </a:pathLst>
                </a:cu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8" name="사각형: 둥근 모서리 107">
                  <a:extLst>
                    <a:ext uri="{FF2B5EF4-FFF2-40B4-BE49-F238E27FC236}">
                      <a16:creationId xmlns:a16="http://schemas.microsoft.com/office/drawing/2014/main" id="{7110CD4D-FCB4-4ED6-A1E8-0502566EF64E}"/>
                    </a:ext>
                  </a:extLst>
                </p:cNvPr>
                <p:cNvSpPr/>
                <p:nvPr/>
              </p:nvSpPr>
              <p:spPr>
                <a:xfrm rot="10800000">
                  <a:off x="1358962" y="4982380"/>
                  <a:ext cx="108000" cy="21516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B162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9" name="사각형: 둥근 모서리 108">
                  <a:extLst>
                    <a:ext uri="{FF2B5EF4-FFF2-40B4-BE49-F238E27FC236}">
                      <a16:creationId xmlns:a16="http://schemas.microsoft.com/office/drawing/2014/main" id="{0F020E9A-7A3A-4353-8C8A-96CCBB7014F5}"/>
                    </a:ext>
                  </a:extLst>
                </p:cNvPr>
                <p:cNvSpPr/>
                <p:nvPr/>
              </p:nvSpPr>
              <p:spPr>
                <a:xfrm rot="10800000">
                  <a:off x="1056587" y="4982380"/>
                  <a:ext cx="108000" cy="21516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B162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9" name="사각형: 둥근 모서리 8">
                <a:extLst>
                  <a:ext uri="{FF2B5EF4-FFF2-40B4-BE49-F238E27FC236}">
                    <a16:creationId xmlns:a16="http://schemas.microsoft.com/office/drawing/2014/main" id="{5B711DA5-0012-4EDA-BAAC-B7B7B2AE468E}"/>
                  </a:ext>
                </a:extLst>
              </p:cNvPr>
              <p:cNvSpPr/>
              <p:nvPr/>
            </p:nvSpPr>
            <p:spPr>
              <a:xfrm>
                <a:off x="716389" y="3287635"/>
                <a:ext cx="1080000" cy="1440000"/>
              </a:xfrm>
              <a:prstGeom prst="roundRect">
                <a:avLst/>
              </a:prstGeom>
              <a:solidFill>
                <a:schemeClr val="tx2">
                  <a:lumMod val="50000"/>
                </a:schemeClr>
              </a:solidFill>
              <a:ln w="19050"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Load</a:t>
                </a:r>
              </a:p>
              <a:p>
                <a:pPr algn="ctr"/>
                <a:r>
                  <a:rPr lang="en-US" altLang="ko-KR" sz="14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Manager</a:t>
                </a:r>
              </a:p>
            </p:txBody>
          </p:sp>
        </p:grpSp>
        <p:grpSp>
          <p:nvGrpSpPr>
            <p:cNvPr id="120" name="그룹 119">
              <a:extLst>
                <a:ext uri="{FF2B5EF4-FFF2-40B4-BE49-F238E27FC236}">
                  <a16:creationId xmlns:a16="http://schemas.microsoft.com/office/drawing/2014/main" id="{54EE6901-B810-4D03-9122-88D46660D8C0}"/>
                </a:ext>
              </a:extLst>
            </p:cNvPr>
            <p:cNvGrpSpPr/>
            <p:nvPr/>
          </p:nvGrpSpPr>
          <p:grpSpPr>
            <a:xfrm>
              <a:off x="2021386" y="2400186"/>
              <a:ext cx="1080000" cy="3244741"/>
              <a:chOff x="2027349" y="2400186"/>
              <a:chExt cx="1080000" cy="3244741"/>
            </a:xfrm>
          </p:grpSpPr>
          <p:sp>
            <p:nvSpPr>
              <p:cNvPr id="21" name="사각형: 둥근 위쪽 모서리 20">
                <a:extLst>
                  <a:ext uri="{FF2B5EF4-FFF2-40B4-BE49-F238E27FC236}">
                    <a16:creationId xmlns:a16="http://schemas.microsoft.com/office/drawing/2014/main" id="{1713C390-2695-4257-9A22-CA9F77951B3F}"/>
                  </a:ext>
                </a:extLst>
              </p:cNvPr>
              <p:cNvSpPr/>
              <p:nvPr/>
            </p:nvSpPr>
            <p:spPr>
              <a:xfrm rot="10800000">
                <a:off x="2117350" y="2400186"/>
                <a:ext cx="900000" cy="216000"/>
              </a:xfrm>
              <a:prstGeom prst="round2SameRect">
                <a:avLst>
                  <a:gd name="adj1" fmla="val 34127"/>
                  <a:gd name="adj2" fmla="val 0"/>
                </a:avLst>
              </a:prstGeom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114" name="그룹 113">
                <a:extLst>
                  <a:ext uri="{FF2B5EF4-FFF2-40B4-BE49-F238E27FC236}">
                    <a16:creationId xmlns:a16="http://schemas.microsoft.com/office/drawing/2014/main" id="{99ADDB0A-F39C-4638-87D4-7FD6BD4EF708}"/>
                  </a:ext>
                </a:extLst>
              </p:cNvPr>
              <p:cNvGrpSpPr/>
              <p:nvPr/>
            </p:nvGrpSpPr>
            <p:grpSpPr>
              <a:xfrm>
                <a:off x="2207349" y="2794025"/>
                <a:ext cx="720000" cy="583364"/>
                <a:chOff x="2195609" y="2794025"/>
                <a:chExt cx="720000" cy="583364"/>
              </a:xfrm>
            </p:grpSpPr>
            <p:sp>
              <p:nvSpPr>
                <p:cNvPr id="62" name="자유형: 도형 61">
                  <a:extLst>
                    <a:ext uri="{FF2B5EF4-FFF2-40B4-BE49-F238E27FC236}">
                      <a16:creationId xmlns:a16="http://schemas.microsoft.com/office/drawing/2014/main" id="{3A5A8E45-1F54-48DB-AB2C-B3BA69EFE673}"/>
                    </a:ext>
                  </a:extLst>
                </p:cNvPr>
                <p:cNvSpPr/>
                <p:nvPr/>
              </p:nvSpPr>
              <p:spPr>
                <a:xfrm>
                  <a:off x="2195609" y="2794025"/>
                  <a:ext cx="720000" cy="464659"/>
                </a:xfrm>
                <a:custGeom>
                  <a:avLst/>
                  <a:gdLst>
                    <a:gd name="connsiteX0" fmla="*/ 0 w 720000"/>
                    <a:gd name="connsiteY0" fmla="*/ 0 h 464659"/>
                    <a:gd name="connsiteX1" fmla="*/ 720000 w 720000"/>
                    <a:gd name="connsiteY1" fmla="*/ 0 h 464659"/>
                    <a:gd name="connsiteX2" fmla="*/ 720000 w 720000"/>
                    <a:gd name="connsiteY2" fmla="*/ 94857 h 464659"/>
                    <a:gd name="connsiteX3" fmla="*/ 689986 w 720000"/>
                    <a:gd name="connsiteY3" fmla="*/ 140138 h 464659"/>
                    <a:gd name="connsiteX4" fmla="*/ 674883 w 720000"/>
                    <a:gd name="connsiteY4" fmla="*/ 143187 h 464659"/>
                    <a:gd name="connsiteX5" fmla="*/ 674883 w 720000"/>
                    <a:gd name="connsiteY5" fmla="*/ 464659 h 464659"/>
                    <a:gd name="connsiteX6" fmla="*/ 44883 w 720000"/>
                    <a:gd name="connsiteY6" fmla="*/ 464659 h 464659"/>
                    <a:gd name="connsiteX7" fmla="*/ 44883 w 720000"/>
                    <a:gd name="connsiteY7" fmla="*/ 143140 h 464659"/>
                    <a:gd name="connsiteX8" fmla="*/ 30014 w 720000"/>
                    <a:gd name="connsiteY8" fmla="*/ 140138 h 464659"/>
                    <a:gd name="connsiteX9" fmla="*/ 0 w 720000"/>
                    <a:gd name="connsiteY9" fmla="*/ 94857 h 464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720000" h="464659">
                      <a:moveTo>
                        <a:pt x="0" y="0"/>
                      </a:moveTo>
                      <a:lnTo>
                        <a:pt x="720000" y="0"/>
                      </a:lnTo>
                      <a:lnTo>
                        <a:pt x="720000" y="94857"/>
                      </a:lnTo>
                      <a:cubicBezTo>
                        <a:pt x="720000" y="115213"/>
                        <a:pt x="707624" y="132678"/>
                        <a:pt x="689986" y="140138"/>
                      </a:cubicBezTo>
                      <a:lnTo>
                        <a:pt x="674883" y="143187"/>
                      </a:lnTo>
                      <a:lnTo>
                        <a:pt x="674883" y="464659"/>
                      </a:lnTo>
                      <a:lnTo>
                        <a:pt x="44883" y="464659"/>
                      </a:lnTo>
                      <a:lnTo>
                        <a:pt x="44883" y="143140"/>
                      </a:lnTo>
                      <a:lnTo>
                        <a:pt x="30014" y="140138"/>
                      </a:lnTo>
                      <a:cubicBezTo>
                        <a:pt x="12376" y="132678"/>
                        <a:pt x="0" y="115213"/>
                        <a:pt x="0" y="94857"/>
                      </a:cubicBezTo>
                      <a:close/>
                    </a:path>
                  </a:pathLst>
                </a:cu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8" name="사각형: 둥근 모서리 67">
                  <a:extLst>
                    <a:ext uri="{FF2B5EF4-FFF2-40B4-BE49-F238E27FC236}">
                      <a16:creationId xmlns:a16="http://schemas.microsoft.com/office/drawing/2014/main" id="{53DAA696-BFAB-4B23-9D80-D87AF93A1E01}"/>
                    </a:ext>
                  </a:extLst>
                </p:cNvPr>
                <p:cNvSpPr/>
                <p:nvPr/>
              </p:nvSpPr>
              <p:spPr>
                <a:xfrm>
                  <a:off x="2353840" y="3162220"/>
                  <a:ext cx="108000" cy="21516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B162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9" name="사각형: 둥근 모서리 68">
                  <a:extLst>
                    <a:ext uri="{FF2B5EF4-FFF2-40B4-BE49-F238E27FC236}">
                      <a16:creationId xmlns:a16="http://schemas.microsoft.com/office/drawing/2014/main" id="{87E8529D-B528-4157-A627-7955A9EAACE2}"/>
                    </a:ext>
                  </a:extLst>
                </p:cNvPr>
                <p:cNvSpPr/>
                <p:nvPr/>
              </p:nvSpPr>
              <p:spPr>
                <a:xfrm>
                  <a:off x="2656215" y="3162220"/>
                  <a:ext cx="108000" cy="21516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B162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96" name="사각형: 둥근 위쪽 모서리 95">
                <a:extLst>
                  <a:ext uri="{FF2B5EF4-FFF2-40B4-BE49-F238E27FC236}">
                    <a16:creationId xmlns:a16="http://schemas.microsoft.com/office/drawing/2014/main" id="{64911DEF-BD41-4AF5-8349-4798DF47514B}"/>
                  </a:ext>
                </a:extLst>
              </p:cNvPr>
              <p:cNvSpPr/>
              <p:nvPr/>
            </p:nvSpPr>
            <p:spPr>
              <a:xfrm>
                <a:off x="2117349" y="5428927"/>
                <a:ext cx="900000" cy="216000"/>
              </a:xfrm>
              <a:prstGeom prst="round2SameRect">
                <a:avLst>
                  <a:gd name="adj1" fmla="val 34127"/>
                  <a:gd name="adj2" fmla="val 0"/>
                </a:avLst>
              </a:prstGeom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115" name="그룹 114">
                <a:extLst>
                  <a:ext uri="{FF2B5EF4-FFF2-40B4-BE49-F238E27FC236}">
                    <a16:creationId xmlns:a16="http://schemas.microsoft.com/office/drawing/2014/main" id="{76151E70-9C09-416D-86CF-0A7FF603D469}"/>
                  </a:ext>
                </a:extLst>
              </p:cNvPr>
              <p:cNvGrpSpPr/>
              <p:nvPr/>
            </p:nvGrpSpPr>
            <p:grpSpPr>
              <a:xfrm>
                <a:off x="2207349" y="4635772"/>
                <a:ext cx="720000" cy="583364"/>
                <a:chOff x="2195610" y="4982380"/>
                <a:chExt cx="720000" cy="583364"/>
              </a:xfrm>
            </p:grpSpPr>
            <p:sp>
              <p:nvSpPr>
                <p:cNvPr id="100" name="자유형: 도형 99">
                  <a:extLst>
                    <a:ext uri="{FF2B5EF4-FFF2-40B4-BE49-F238E27FC236}">
                      <a16:creationId xmlns:a16="http://schemas.microsoft.com/office/drawing/2014/main" id="{B9B8092C-5E46-4A24-96F8-3B2229995A3F}"/>
                    </a:ext>
                  </a:extLst>
                </p:cNvPr>
                <p:cNvSpPr/>
                <p:nvPr/>
              </p:nvSpPr>
              <p:spPr>
                <a:xfrm rot="10800000">
                  <a:off x="2195610" y="5101085"/>
                  <a:ext cx="720000" cy="464659"/>
                </a:xfrm>
                <a:custGeom>
                  <a:avLst/>
                  <a:gdLst>
                    <a:gd name="connsiteX0" fmla="*/ 0 w 720000"/>
                    <a:gd name="connsiteY0" fmla="*/ 0 h 464659"/>
                    <a:gd name="connsiteX1" fmla="*/ 720000 w 720000"/>
                    <a:gd name="connsiteY1" fmla="*/ 0 h 464659"/>
                    <a:gd name="connsiteX2" fmla="*/ 720000 w 720000"/>
                    <a:gd name="connsiteY2" fmla="*/ 94857 h 464659"/>
                    <a:gd name="connsiteX3" fmla="*/ 689986 w 720000"/>
                    <a:gd name="connsiteY3" fmla="*/ 140138 h 464659"/>
                    <a:gd name="connsiteX4" fmla="*/ 674883 w 720000"/>
                    <a:gd name="connsiteY4" fmla="*/ 143187 h 464659"/>
                    <a:gd name="connsiteX5" fmla="*/ 674883 w 720000"/>
                    <a:gd name="connsiteY5" fmla="*/ 464659 h 464659"/>
                    <a:gd name="connsiteX6" fmla="*/ 44883 w 720000"/>
                    <a:gd name="connsiteY6" fmla="*/ 464659 h 464659"/>
                    <a:gd name="connsiteX7" fmla="*/ 44883 w 720000"/>
                    <a:gd name="connsiteY7" fmla="*/ 143140 h 464659"/>
                    <a:gd name="connsiteX8" fmla="*/ 30014 w 720000"/>
                    <a:gd name="connsiteY8" fmla="*/ 140138 h 464659"/>
                    <a:gd name="connsiteX9" fmla="*/ 0 w 720000"/>
                    <a:gd name="connsiteY9" fmla="*/ 94857 h 464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720000" h="464659">
                      <a:moveTo>
                        <a:pt x="0" y="0"/>
                      </a:moveTo>
                      <a:lnTo>
                        <a:pt x="720000" y="0"/>
                      </a:lnTo>
                      <a:lnTo>
                        <a:pt x="720000" y="94857"/>
                      </a:lnTo>
                      <a:cubicBezTo>
                        <a:pt x="720000" y="115213"/>
                        <a:pt x="707624" y="132678"/>
                        <a:pt x="689986" y="140138"/>
                      </a:cubicBezTo>
                      <a:lnTo>
                        <a:pt x="674883" y="143187"/>
                      </a:lnTo>
                      <a:lnTo>
                        <a:pt x="674883" y="464659"/>
                      </a:lnTo>
                      <a:lnTo>
                        <a:pt x="44883" y="464659"/>
                      </a:lnTo>
                      <a:lnTo>
                        <a:pt x="44883" y="143140"/>
                      </a:lnTo>
                      <a:lnTo>
                        <a:pt x="30014" y="140138"/>
                      </a:lnTo>
                      <a:cubicBezTo>
                        <a:pt x="12376" y="132678"/>
                        <a:pt x="0" y="115213"/>
                        <a:pt x="0" y="94857"/>
                      </a:cubicBezTo>
                      <a:close/>
                    </a:path>
                  </a:pathLst>
                </a:cu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6" name="사각형: 둥근 모서리 105">
                  <a:extLst>
                    <a:ext uri="{FF2B5EF4-FFF2-40B4-BE49-F238E27FC236}">
                      <a16:creationId xmlns:a16="http://schemas.microsoft.com/office/drawing/2014/main" id="{0B45FB65-28CD-411B-84B2-A7A26F782B04}"/>
                    </a:ext>
                  </a:extLst>
                </p:cNvPr>
                <p:cNvSpPr/>
                <p:nvPr/>
              </p:nvSpPr>
              <p:spPr>
                <a:xfrm rot="10800000">
                  <a:off x="2649380" y="4982380"/>
                  <a:ext cx="108000" cy="21516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B162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7" name="사각형: 둥근 모서리 106">
                  <a:extLst>
                    <a:ext uri="{FF2B5EF4-FFF2-40B4-BE49-F238E27FC236}">
                      <a16:creationId xmlns:a16="http://schemas.microsoft.com/office/drawing/2014/main" id="{12720AE0-C30C-4D58-A08F-0D3F5A861885}"/>
                    </a:ext>
                  </a:extLst>
                </p:cNvPr>
                <p:cNvSpPr/>
                <p:nvPr/>
              </p:nvSpPr>
              <p:spPr>
                <a:xfrm rot="10800000">
                  <a:off x="2347005" y="4982380"/>
                  <a:ext cx="108000" cy="21516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B162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31" name="사각형: 둥근 모서리 30">
                <a:extLst>
                  <a:ext uri="{FF2B5EF4-FFF2-40B4-BE49-F238E27FC236}">
                    <a16:creationId xmlns:a16="http://schemas.microsoft.com/office/drawing/2014/main" id="{1A4A52A4-A5BF-4398-B6C3-520A16375A7B}"/>
                  </a:ext>
                </a:extLst>
              </p:cNvPr>
              <p:cNvSpPr/>
              <p:nvPr/>
            </p:nvSpPr>
            <p:spPr>
              <a:xfrm>
                <a:off x="2027349" y="3287635"/>
                <a:ext cx="1080000" cy="1440000"/>
              </a:xfrm>
              <a:prstGeom prst="roundRect">
                <a:avLst/>
              </a:prstGeom>
              <a:solidFill>
                <a:schemeClr val="tx2">
                  <a:lumMod val="50000"/>
                </a:schemeClr>
              </a:solidFill>
              <a:ln w="19050"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Data</a:t>
                </a:r>
              </a:p>
              <a:p>
                <a:pPr algn="ctr"/>
                <a:r>
                  <a:rPr lang="en-US" altLang="ko-KR" sz="14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Manager</a:t>
                </a:r>
              </a:p>
            </p:txBody>
          </p:sp>
        </p:grpSp>
        <p:grpSp>
          <p:nvGrpSpPr>
            <p:cNvPr id="119" name="그룹 118">
              <a:extLst>
                <a:ext uri="{FF2B5EF4-FFF2-40B4-BE49-F238E27FC236}">
                  <a16:creationId xmlns:a16="http://schemas.microsoft.com/office/drawing/2014/main" id="{8B3B42B1-818B-464F-B8A1-373F29A086E0}"/>
                </a:ext>
              </a:extLst>
            </p:cNvPr>
            <p:cNvGrpSpPr/>
            <p:nvPr/>
          </p:nvGrpSpPr>
          <p:grpSpPr>
            <a:xfrm>
              <a:off x="3341386" y="2400186"/>
              <a:ext cx="1080000" cy="3244741"/>
              <a:chOff x="3292213" y="2400186"/>
              <a:chExt cx="1080000" cy="3244741"/>
            </a:xfrm>
          </p:grpSpPr>
          <p:sp>
            <p:nvSpPr>
              <p:cNvPr id="22" name="사각형: 둥근 위쪽 모서리 21">
                <a:extLst>
                  <a:ext uri="{FF2B5EF4-FFF2-40B4-BE49-F238E27FC236}">
                    <a16:creationId xmlns:a16="http://schemas.microsoft.com/office/drawing/2014/main" id="{0E3F9234-8EA0-4D0D-94AD-3845559FDBD1}"/>
                  </a:ext>
                </a:extLst>
              </p:cNvPr>
              <p:cNvSpPr/>
              <p:nvPr/>
            </p:nvSpPr>
            <p:spPr>
              <a:xfrm rot="10800000">
                <a:off x="3382213" y="2400186"/>
                <a:ext cx="900000" cy="216000"/>
              </a:xfrm>
              <a:prstGeom prst="round2SameRect">
                <a:avLst>
                  <a:gd name="adj1" fmla="val 34127"/>
                  <a:gd name="adj2" fmla="val 0"/>
                </a:avLst>
              </a:prstGeom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112" name="그룹 111">
                <a:extLst>
                  <a:ext uri="{FF2B5EF4-FFF2-40B4-BE49-F238E27FC236}">
                    <a16:creationId xmlns:a16="http://schemas.microsoft.com/office/drawing/2014/main" id="{17EF56F0-9A8C-4917-A5E1-3E10D6899D46}"/>
                  </a:ext>
                </a:extLst>
              </p:cNvPr>
              <p:cNvGrpSpPr/>
              <p:nvPr/>
            </p:nvGrpSpPr>
            <p:grpSpPr>
              <a:xfrm>
                <a:off x="3472213" y="2794025"/>
                <a:ext cx="720000" cy="583364"/>
                <a:chOff x="3496371" y="2794025"/>
                <a:chExt cx="720000" cy="583364"/>
              </a:xfrm>
            </p:grpSpPr>
            <p:sp>
              <p:nvSpPr>
                <p:cNvPr id="63" name="자유형: 도형 62">
                  <a:extLst>
                    <a:ext uri="{FF2B5EF4-FFF2-40B4-BE49-F238E27FC236}">
                      <a16:creationId xmlns:a16="http://schemas.microsoft.com/office/drawing/2014/main" id="{221D712F-B37D-44D5-AB77-68653D30B7D9}"/>
                    </a:ext>
                  </a:extLst>
                </p:cNvPr>
                <p:cNvSpPr/>
                <p:nvPr/>
              </p:nvSpPr>
              <p:spPr>
                <a:xfrm>
                  <a:off x="3496371" y="2794025"/>
                  <a:ext cx="720000" cy="464659"/>
                </a:xfrm>
                <a:custGeom>
                  <a:avLst/>
                  <a:gdLst>
                    <a:gd name="connsiteX0" fmla="*/ 0 w 720000"/>
                    <a:gd name="connsiteY0" fmla="*/ 0 h 464659"/>
                    <a:gd name="connsiteX1" fmla="*/ 720000 w 720000"/>
                    <a:gd name="connsiteY1" fmla="*/ 0 h 464659"/>
                    <a:gd name="connsiteX2" fmla="*/ 720000 w 720000"/>
                    <a:gd name="connsiteY2" fmla="*/ 94857 h 464659"/>
                    <a:gd name="connsiteX3" fmla="*/ 689986 w 720000"/>
                    <a:gd name="connsiteY3" fmla="*/ 140138 h 464659"/>
                    <a:gd name="connsiteX4" fmla="*/ 674883 w 720000"/>
                    <a:gd name="connsiteY4" fmla="*/ 143187 h 464659"/>
                    <a:gd name="connsiteX5" fmla="*/ 674883 w 720000"/>
                    <a:gd name="connsiteY5" fmla="*/ 464659 h 464659"/>
                    <a:gd name="connsiteX6" fmla="*/ 44883 w 720000"/>
                    <a:gd name="connsiteY6" fmla="*/ 464659 h 464659"/>
                    <a:gd name="connsiteX7" fmla="*/ 44883 w 720000"/>
                    <a:gd name="connsiteY7" fmla="*/ 143140 h 464659"/>
                    <a:gd name="connsiteX8" fmla="*/ 30014 w 720000"/>
                    <a:gd name="connsiteY8" fmla="*/ 140138 h 464659"/>
                    <a:gd name="connsiteX9" fmla="*/ 0 w 720000"/>
                    <a:gd name="connsiteY9" fmla="*/ 94857 h 464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720000" h="464659">
                      <a:moveTo>
                        <a:pt x="0" y="0"/>
                      </a:moveTo>
                      <a:lnTo>
                        <a:pt x="720000" y="0"/>
                      </a:lnTo>
                      <a:lnTo>
                        <a:pt x="720000" y="94857"/>
                      </a:lnTo>
                      <a:cubicBezTo>
                        <a:pt x="720000" y="115213"/>
                        <a:pt x="707624" y="132678"/>
                        <a:pt x="689986" y="140138"/>
                      </a:cubicBezTo>
                      <a:lnTo>
                        <a:pt x="674883" y="143187"/>
                      </a:lnTo>
                      <a:lnTo>
                        <a:pt x="674883" y="464659"/>
                      </a:lnTo>
                      <a:lnTo>
                        <a:pt x="44883" y="464659"/>
                      </a:lnTo>
                      <a:lnTo>
                        <a:pt x="44883" y="143140"/>
                      </a:lnTo>
                      <a:lnTo>
                        <a:pt x="30014" y="140138"/>
                      </a:lnTo>
                      <a:cubicBezTo>
                        <a:pt x="12376" y="132678"/>
                        <a:pt x="0" y="115213"/>
                        <a:pt x="0" y="94857"/>
                      </a:cubicBezTo>
                      <a:close/>
                    </a:path>
                  </a:pathLst>
                </a:cu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0" name="사각형: 둥근 모서리 69">
                  <a:extLst>
                    <a:ext uri="{FF2B5EF4-FFF2-40B4-BE49-F238E27FC236}">
                      <a16:creationId xmlns:a16="http://schemas.microsoft.com/office/drawing/2014/main" id="{C02D9859-DB39-4417-A9F5-D968459F52CB}"/>
                    </a:ext>
                  </a:extLst>
                </p:cNvPr>
                <p:cNvSpPr/>
                <p:nvPr/>
              </p:nvSpPr>
              <p:spPr>
                <a:xfrm>
                  <a:off x="3654601" y="3162220"/>
                  <a:ext cx="108000" cy="21516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B162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1" name="사각형: 둥근 모서리 70">
                  <a:extLst>
                    <a:ext uri="{FF2B5EF4-FFF2-40B4-BE49-F238E27FC236}">
                      <a16:creationId xmlns:a16="http://schemas.microsoft.com/office/drawing/2014/main" id="{63EBD0EC-7D27-470C-A88D-891D63DF79BC}"/>
                    </a:ext>
                  </a:extLst>
                </p:cNvPr>
                <p:cNvSpPr/>
                <p:nvPr/>
              </p:nvSpPr>
              <p:spPr>
                <a:xfrm>
                  <a:off x="3956976" y="3162220"/>
                  <a:ext cx="108000" cy="21516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B162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95" name="사각형: 둥근 위쪽 모서리 94">
                <a:extLst>
                  <a:ext uri="{FF2B5EF4-FFF2-40B4-BE49-F238E27FC236}">
                    <a16:creationId xmlns:a16="http://schemas.microsoft.com/office/drawing/2014/main" id="{BA8F2614-8C6D-4404-8CD4-AAEDCED13D94}"/>
                  </a:ext>
                </a:extLst>
              </p:cNvPr>
              <p:cNvSpPr/>
              <p:nvPr/>
            </p:nvSpPr>
            <p:spPr>
              <a:xfrm>
                <a:off x="3382213" y="5428927"/>
                <a:ext cx="900000" cy="216000"/>
              </a:xfrm>
              <a:prstGeom prst="round2SameRect">
                <a:avLst>
                  <a:gd name="adj1" fmla="val 34127"/>
                  <a:gd name="adj2" fmla="val 0"/>
                </a:avLst>
              </a:prstGeom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113" name="그룹 112">
                <a:extLst>
                  <a:ext uri="{FF2B5EF4-FFF2-40B4-BE49-F238E27FC236}">
                    <a16:creationId xmlns:a16="http://schemas.microsoft.com/office/drawing/2014/main" id="{779ADCD0-68C8-4CF8-A365-F1753B9D30D8}"/>
                  </a:ext>
                </a:extLst>
              </p:cNvPr>
              <p:cNvGrpSpPr/>
              <p:nvPr/>
            </p:nvGrpSpPr>
            <p:grpSpPr>
              <a:xfrm>
                <a:off x="3472213" y="4635772"/>
                <a:ext cx="720000" cy="583364"/>
                <a:chOff x="3496372" y="4982380"/>
                <a:chExt cx="720000" cy="583364"/>
              </a:xfrm>
            </p:grpSpPr>
            <p:sp>
              <p:nvSpPr>
                <p:cNvPr id="99" name="자유형: 도형 98">
                  <a:extLst>
                    <a:ext uri="{FF2B5EF4-FFF2-40B4-BE49-F238E27FC236}">
                      <a16:creationId xmlns:a16="http://schemas.microsoft.com/office/drawing/2014/main" id="{77306FFB-6D15-44BB-8E0A-20160C558375}"/>
                    </a:ext>
                  </a:extLst>
                </p:cNvPr>
                <p:cNvSpPr/>
                <p:nvPr/>
              </p:nvSpPr>
              <p:spPr>
                <a:xfrm rot="10800000">
                  <a:off x="3496372" y="5101085"/>
                  <a:ext cx="720000" cy="464659"/>
                </a:xfrm>
                <a:custGeom>
                  <a:avLst/>
                  <a:gdLst>
                    <a:gd name="connsiteX0" fmla="*/ 0 w 720000"/>
                    <a:gd name="connsiteY0" fmla="*/ 0 h 464659"/>
                    <a:gd name="connsiteX1" fmla="*/ 720000 w 720000"/>
                    <a:gd name="connsiteY1" fmla="*/ 0 h 464659"/>
                    <a:gd name="connsiteX2" fmla="*/ 720000 w 720000"/>
                    <a:gd name="connsiteY2" fmla="*/ 94857 h 464659"/>
                    <a:gd name="connsiteX3" fmla="*/ 689986 w 720000"/>
                    <a:gd name="connsiteY3" fmla="*/ 140138 h 464659"/>
                    <a:gd name="connsiteX4" fmla="*/ 674883 w 720000"/>
                    <a:gd name="connsiteY4" fmla="*/ 143187 h 464659"/>
                    <a:gd name="connsiteX5" fmla="*/ 674883 w 720000"/>
                    <a:gd name="connsiteY5" fmla="*/ 464659 h 464659"/>
                    <a:gd name="connsiteX6" fmla="*/ 44883 w 720000"/>
                    <a:gd name="connsiteY6" fmla="*/ 464659 h 464659"/>
                    <a:gd name="connsiteX7" fmla="*/ 44883 w 720000"/>
                    <a:gd name="connsiteY7" fmla="*/ 143140 h 464659"/>
                    <a:gd name="connsiteX8" fmla="*/ 30014 w 720000"/>
                    <a:gd name="connsiteY8" fmla="*/ 140138 h 464659"/>
                    <a:gd name="connsiteX9" fmla="*/ 0 w 720000"/>
                    <a:gd name="connsiteY9" fmla="*/ 94857 h 464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720000" h="464659">
                      <a:moveTo>
                        <a:pt x="0" y="0"/>
                      </a:moveTo>
                      <a:lnTo>
                        <a:pt x="720000" y="0"/>
                      </a:lnTo>
                      <a:lnTo>
                        <a:pt x="720000" y="94857"/>
                      </a:lnTo>
                      <a:cubicBezTo>
                        <a:pt x="720000" y="115213"/>
                        <a:pt x="707624" y="132678"/>
                        <a:pt x="689986" y="140138"/>
                      </a:cubicBezTo>
                      <a:lnTo>
                        <a:pt x="674883" y="143187"/>
                      </a:lnTo>
                      <a:lnTo>
                        <a:pt x="674883" y="464659"/>
                      </a:lnTo>
                      <a:lnTo>
                        <a:pt x="44883" y="464659"/>
                      </a:lnTo>
                      <a:lnTo>
                        <a:pt x="44883" y="143140"/>
                      </a:lnTo>
                      <a:lnTo>
                        <a:pt x="30014" y="140138"/>
                      </a:lnTo>
                      <a:cubicBezTo>
                        <a:pt x="12376" y="132678"/>
                        <a:pt x="0" y="115213"/>
                        <a:pt x="0" y="94857"/>
                      </a:cubicBezTo>
                      <a:close/>
                    </a:path>
                  </a:pathLst>
                </a:cu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4" name="사각형: 둥근 모서리 103">
                  <a:extLst>
                    <a:ext uri="{FF2B5EF4-FFF2-40B4-BE49-F238E27FC236}">
                      <a16:creationId xmlns:a16="http://schemas.microsoft.com/office/drawing/2014/main" id="{77136AE6-1A3C-41F4-B019-DAF90DF6F850}"/>
                    </a:ext>
                  </a:extLst>
                </p:cNvPr>
                <p:cNvSpPr/>
                <p:nvPr/>
              </p:nvSpPr>
              <p:spPr>
                <a:xfrm rot="10800000">
                  <a:off x="3950141" y="4982380"/>
                  <a:ext cx="108000" cy="21516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B162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5" name="사각형: 둥근 모서리 104">
                  <a:extLst>
                    <a:ext uri="{FF2B5EF4-FFF2-40B4-BE49-F238E27FC236}">
                      <a16:creationId xmlns:a16="http://schemas.microsoft.com/office/drawing/2014/main" id="{6C36A86D-EEBC-49E2-8B2D-2CF56E7BE23A}"/>
                    </a:ext>
                  </a:extLst>
                </p:cNvPr>
                <p:cNvSpPr/>
                <p:nvPr/>
              </p:nvSpPr>
              <p:spPr>
                <a:xfrm rot="10800000">
                  <a:off x="3647766" y="4982380"/>
                  <a:ext cx="108000" cy="21516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B162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32" name="사각형: 둥근 모서리 31">
                <a:extLst>
                  <a:ext uri="{FF2B5EF4-FFF2-40B4-BE49-F238E27FC236}">
                    <a16:creationId xmlns:a16="http://schemas.microsoft.com/office/drawing/2014/main" id="{22D89400-DBE8-450A-911E-B896E5A5D279}"/>
                  </a:ext>
                </a:extLst>
              </p:cNvPr>
              <p:cNvSpPr/>
              <p:nvPr/>
            </p:nvSpPr>
            <p:spPr>
              <a:xfrm>
                <a:off x="3292213" y="3287635"/>
                <a:ext cx="1080000" cy="1440000"/>
              </a:xfrm>
              <a:prstGeom prst="roundRect">
                <a:avLst/>
              </a:prstGeom>
              <a:solidFill>
                <a:schemeClr val="tx2">
                  <a:lumMod val="50000"/>
                </a:schemeClr>
              </a:solidFill>
              <a:ln w="19050"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Drop</a:t>
                </a:r>
              </a:p>
              <a:p>
                <a:pPr algn="ctr"/>
                <a:r>
                  <a:rPr lang="en-US" altLang="ko-KR" sz="140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Table</a:t>
                </a:r>
              </a:p>
            </p:txBody>
          </p:sp>
        </p:grpSp>
        <p:grpSp>
          <p:nvGrpSpPr>
            <p:cNvPr id="118" name="그룹 117">
              <a:extLst>
                <a:ext uri="{FF2B5EF4-FFF2-40B4-BE49-F238E27FC236}">
                  <a16:creationId xmlns:a16="http://schemas.microsoft.com/office/drawing/2014/main" id="{2BE0F6A0-4A95-4112-9D0D-A6733E18698F}"/>
                </a:ext>
              </a:extLst>
            </p:cNvPr>
            <p:cNvGrpSpPr/>
            <p:nvPr/>
          </p:nvGrpSpPr>
          <p:grpSpPr>
            <a:xfrm>
              <a:off x="4661386" y="2400186"/>
              <a:ext cx="1080000" cy="3244741"/>
              <a:chOff x="4626700" y="2400186"/>
              <a:chExt cx="1080000" cy="3244741"/>
            </a:xfrm>
          </p:grpSpPr>
          <p:sp>
            <p:nvSpPr>
              <p:cNvPr id="23" name="사각형: 둥근 위쪽 모서리 22">
                <a:extLst>
                  <a:ext uri="{FF2B5EF4-FFF2-40B4-BE49-F238E27FC236}">
                    <a16:creationId xmlns:a16="http://schemas.microsoft.com/office/drawing/2014/main" id="{9FC8E91D-6B5E-4E95-85CE-8889A87EEB75}"/>
                  </a:ext>
                </a:extLst>
              </p:cNvPr>
              <p:cNvSpPr/>
              <p:nvPr/>
            </p:nvSpPr>
            <p:spPr>
              <a:xfrm rot="10800000">
                <a:off x="4716700" y="2400186"/>
                <a:ext cx="900000" cy="216000"/>
              </a:xfrm>
              <a:prstGeom prst="round2SameRect">
                <a:avLst>
                  <a:gd name="adj1" fmla="val 34127"/>
                  <a:gd name="adj2" fmla="val 0"/>
                </a:avLst>
              </a:prstGeom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110" name="그룹 109">
                <a:extLst>
                  <a:ext uri="{FF2B5EF4-FFF2-40B4-BE49-F238E27FC236}">
                    <a16:creationId xmlns:a16="http://schemas.microsoft.com/office/drawing/2014/main" id="{8A4C9AAD-6365-44AF-B4D0-0E66559353E1}"/>
                  </a:ext>
                </a:extLst>
              </p:cNvPr>
              <p:cNvGrpSpPr/>
              <p:nvPr/>
            </p:nvGrpSpPr>
            <p:grpSpPr>
              <a:xfrm>
                <a:off x="4806700" y="2794025"/>
                <a:ext cx="720000" cy="583364"/>
                <a:chOff x="4797132" y="2794025"/>
                <a:chExt cx="720000" cy="583364"/>
              </a:xfrm>
            </p:grpSpPr>
            <p:sp>
              <p:nvSpPr>
                <p:cNvPr id="64" name="자유형: 도형 63">
                  <a:extLst>
                    <a:ext uri="{FF2B5EF4-FFF2-40B4-BE49-F238E27FC236}">
                      <a16:creationId xmlns:a16="http://schemas.microsoft.com/office/drawing/2014/main" id="{7C6EFEB9-945F-4562-BA87-4BE00C1031E7}"/>
                    </a:ext>
                  </a:extLst>
                </p:cNvPr>
                <p:cNvSpPr/>
                <p:nvPr/>
              </p:nvSpPr>
              <p:spPr>
                <a:xfrm>
                  <a:off x="4797132" y="2794025"/>
                  <a:ext cx="720000" cy="464659"/>
                </a:xfrm>
                <a:custGeom>
                  <a:avLst/>
                  <a:gdLst>
                    <a:gd name="connsiteX0" fmla="*/ 0 w 720000"/>
                    <a:gd name="connsiteY0" fmla="*/ 0 h 464659"/>
                    <a:gd name="connsiteX1" fmla="*/ 720000 w 720000"/>
                    <a:gd name="connsiteY1" fmla="*/ 0 h 464659"/>
                    <a:gd name="connsiteX2" fmla="*/ 720000 w 720000"/>
                    <a:gd name="connsiteY2" fmla="*/ 94857 h 464659"/>
                    <a:gd name="connsiteX3" fmla="*/ 689986 w 720000"/>
                    <a:gd name="connsiteY3" fmla="*/ 140138 h 464659"/>
                    <a:gd name="connsiteX4" fmla="*/ 674883 w 720000"/>
                    <a:gd name="connsiteY4" fmla="*/ 143187 h 464659"/>
                    <a:gd name="connsiteX5" fmla="*/ 674883 w 720000"/>
                    <a:gd name="connsiteY5" fmla="*/ 464659 h 464659"/>
                    <a:gd name="connsiteX6" fmla="*/ 44883 w 720000"/>
                    <a:gd name="connsiteY6" fmla="*/ 464659 h 464659"/>
                    <a:gd name="connsiteX7" fmla="*/ 44883 w 720000"/>
                    <a:gd name="connsiteY7" fmla="*/ 143140 h 464659"/>
                    <a:gd name="connsiteX8" fmla="*/ 30014 w 720000"/>
                    <a:gd name="connsiteY8" fmla="*/ 140138 h 464659"/>
                    <a:gd name="connsiteX9" fmla="*/ 0 w 720000"/>
                    <a:gd name="connsiteY9" fmla="*/ 94857 h 464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720000" h="464659">
                      <a:moveTo>
                        <a:pt x="0" y="0"/>
                      </a:moveTo>
                      <a:lnTo>
                        <a:pt x="720000" y="0"/>
                      </a:lnTo>
                      <a:lnTo>
                        <a:pt x="720000" y="94857"/>
                      </a:lnTo>
                      <a:cubicBezTo>
                        <a:pt x="720000" y="115213"/>
                        <a:pt x="707624" y="132678"/>
                        <a:pt x="689986" y="140138"/>
                      </a:cubicBezTo>
                      <a:lnTo>
                        <a:pt x="674883" y="143187"/>
                      </a:lnTo>
                      <a:lnTo>
                        <a:pt x="674883" y="464659"/>
                      </a:lnTo>
                      <a:lnTo>
                        <a:pt x="44883" y="464659"/>
                      </a:lnTo>
                      <a:lnTo>
                        <a:pt x="44883" y="143140"/>
                      </a:lnTo>
                      <a:lnTo>
                        <a:pt x="30014" y="140138"/>
                      </a:lnTo>
                      <a:cubicBezTo>
                        <a:pt x="12376" y="132678"/>
                        <a:pt x="0" y="115213"/>
                        <a:pt x="0" y="94857"/>
                      </a:cubicBezTo>
                      <a:close/>
                    </a:path>
                  </a:pathLst>
                </a:cu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2" name="사각형: 둥근 모서리 71">
                  <a:extLst>
                    <a:ext uri="{FF2B5EF4-FFF2-40B4-BE49-F238E27FC236}">
                      <a16:creationId xmlns:a16="http://schemas.microsoft.com/office/drawing/2014/main" id="{873E6575-1A03-41EE-933D-8A8115E131A9}"/>
                    </a:ext>
                  </a:extLst>
                </p:cNvPr>
                <p:cNvSpPr/>
                <p:nvPr/>
              </p:nvSpPr>
              <p:spPr>
                <a:xfrm>
                  <a:off x="4945019" y="3162220"/>
                  <a:ext cx="108000" cy="21516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B162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3" name="사각형: 둥근 모서리 72">
                  <a:extLst>
                    <a:ext uri="{FF2B5EF4-FFF2-40B4-BE49-F238E27FC236}">
                      <a16:creationId xmlns:a16="http://schemas.microsoft.com/office/drawing/2014/main" id="{56748FF0-50A2-4BF4-AFC7-4A84F5606518}"/>
                    </a:ext>
                  </a:extLst>
                </p:cNvPr>
                <p:cNvSpPr/>
                <p:nvPr/>
              </p:nvSpPr>
              <p:spPr>
                <a:xfrm>
                  <a:off x="5247394" y="3162220"/>
                  <a:ext cx="108000" cy="21516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B162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94" name="사각형: 둥근 위쪽 모서리 93">
                <a:extLst>
                  <a:ext uri="{FF2B5EF4-FFF2-40B4-BE49-F238E27FC236}">
                    <a16:creationId xmlns:a16="http://schemas.microsoft.com/office/drawing/2014/main" id="{86EA1400-5173-4855-BC21-E7914F456CBE}"/>
                  </a:ext>
                </a:extLst>
              </p:cNvPr>
              <p:cNvSpPr/>
              <p:nvPr/>
            </p:nvSpPr>
            <p:spPr>
              <a:xfrm>
                <a:off x="4716700" y="5428927"/>
                <a:ext cx="900000" cy="216000"/>
              </a:xfrm>
              <a:prstGeom prst="round2SameRect">
                <a:avLst>
                  <a:gd name="adj1" fmla="val 34127"/>
                  <a:gd name="adj2" fmla="val 0"/>
                </a:avLst>
              </a:prstGeom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111" name="그룹 110">
                <a:extLst>
                  <a:ext uri="{FF2B5EF4-FFF2-40B4-BE49-F238E27FC236}">
                    <a16:creationId xmlns:a16="http://schemas.microsoft.com/office/drawing/2014/main" id="{A227BEA9-C2DC-492B-B606-6508DB2801D9}"/>
                  </a:ext>
                </a:extLst>
              </p:cNvPr>
              <p:cNvGrpSpPr/>
              <p:nvPr/>
            </p:nvGrpSpPr>
            <p:grpSpPr>
              <a:xfrm>
                <a:off x="4806700" y="4635772"/>
                <a:ext cx="720000" cy="583364"/>
                <a:chOff x="4797133" y="4982380"/>
                <a:chExt cx="720000" cy="583364"/>
              </a:xfrm>
            </p:grpSpPr>
            <p:sp>
              <p:nvSpPr>
                <p:cNvPr id="98" name="자유형: 도형 97">
                  <a:extLst>
                    <a:ext uri="{FF2B5EF4-FFF2-40B4-BE49-F238E27FC236}">
                      <a16:creationId xmlns:a16="http://schemas.microsoft.com/office/drawing/2014/main" id="{0B463774-20EF-4694-A9BF-753434F13374}"/>
                    </a:ext>
                  </a:extLst>
                </p:cNvPr>
                <p:cNvSpPr/>
                <p:nvPr/>
              </p:nvSpPr>
              <p:spPr>
                <a:xfrm rot="10800000">
                  <a:off x="4797133" y="5101085"/>
                  <a:ext cx="720000" cy="464659"/>
                </a:xfrm>
                <a:custGeom>
                  <a:avLst/>
                  <a:gdLst>
                    <a:gd name="connsiteX0" fmla="*/ 0 w 720000"/>
                    <a:gd name="connsiteY0" fmla="*/ 0 h 464659"/>
                    <a:gd name="connsiteX1" fmla="*/ 720000 w 720000"/>
                    <a:gd name="connsiteY1" fmla="*/ 0 h 464659"/>
                    <a:gd name="connsiteX2" fmla="*/ 720000 w 720000"/>
                    <a:gd name="connsiteY2" fmla="*/ 94857 h 464659"/>
                    <a:gd name="connsiteX3" fmla="*/ 689986 w 720000"/>
                    <a:gd name="connsiteY3" fmla="*/ 140138 h 464659"/>
                    <a:gd name="connsiteX4" fmla="*/ 674883 w 720000"/>
                    <a:gd name="connsiteY4" fmla="*/ 143187 h 464659"/>
                    <a:gd name="connsiteX5" fmla="*/ 674883 w 720000"/>
                    <a:gd name="connsiteY5" fmla="*/ 464659 h 464659"/>
                    <a:gd name="connsiteX6" fmla="*/ 44883 w 720000"/>
                    <a:gd name="connsiteY6" fmla="*/ 464659 h 464659"/>
                    <a:gd name="connsiteX7" fmla="*/ 44883 w 720000"/>
                    <a:gd name="connsiteY7" fmla="*/ 143140 h 464659"/>
                    <a:gd name="connsiteX8" fmla="*/ 30014 w 720000"/>
                    <a:gd name="connsiteY8" fmla="*/ 140138 h 464659"/>
                    <a:gd name="connsiteX9" fmla="*/ 0 w 720000"/>
                    <a:gd name="connsiteY9" fmla="*/ 94857 h 464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720000" h="464659">
                      <a:moveTo>
                        <a:pt x="0" y="0"/>
                      </a:moveTo>
                      <a:lnTo>
                        <a:pt x="720000" y="0"/>
                      </a:lnTo>
                      <a:lnTo>
                        <a:pt x="720000" y="94857"/>
                      </a:lnTo>
                      <a:cubicBezTo>
                        <a:pt x="720000" y="115213"/>
                        <a:pt x="707624" y="132678"/>
                        <a:pt x="689986" y="140138"/>
                      </a:cubicBezTo>
                      <a:lnTo>
                        <a:pt x="674883" y="143187"/>
                      </a:lnTo>
                      <a:lnTo>
                        <a:pt x="674883" y="464659"/>
                      </a:lnTo>
                      <a:lnTo>
                        <a:pt x="44883" y="464659"/>
                      </a:lnTo>
                      <a:lnTo>
                        <a:pt x="44883" y="143140"/>
                      </a:lnTo>
                      <a:lnTo>
                        <a:pt x="30014" y="140138"/>
                      </a:lnTo>
                      <a:cubicBezTo>
                        <a:pt x="12376" y="132678"/>
                        <a:pt x="0" y="115213"/>
                        <a:pt x="0" y="94857"/>
                      </a:cubicBezTo>
                      <a:close/>
                    </a:path>
                  </a:pathLst>
                </a:cu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2" name="사각형: 둥근 모서리 101">
                  <a:extLst>
                    <a:ext uri="{FF2B5EF4-FFF2-40B4-BE49-F238E27FC236}">
                      <a16:creationId xmlns:a16="http://schemas.microsoft.com/office/drawing/2014/main" id="{86793EB9-5FD1-4B37-902C-9B37D485FA5A}"/>
                    </a:ext>
                  </a:extLst>
                </p:cNvPr>
                <p:cNvSpPr/>
                <p:nvPr/>
              </p:nvSpPr>
              <p:spPr>
                <a:xfrm rot="10800000">
                  <a:off x="5262613" y="4982380"/>
                  <a:ext cx="108000" cy="21516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B162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3" name="사각형: 둥근 모서리 102">
                  <a:extLst>
                    <a:ext uri="{FF2B5EF4-FFF2-40B4-BE49-F238E27FC236}">
                      <a16:creationId xmlns:a16="http://schemas.microsoft.com/office/drawing/2014/main" id="{BA7180A9-2617-45B9-8E57-F0103C1E534A}"/>
                    </a:ext>
                  </a:extLst>
                </p:cNvPr>
                <p:cNvSpPr/>
                <p:nvPr/>
              </p:nvSpPr>
              <p:spPr>
                <a:xfrm rot="10800000">
                  <a:off x="4960238" y="4982380"/>
                  <a:ext cx="108000" cy="21516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B162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33" name="사각형: 둥근 모서리 32">
                <a:extLst>
                  <a:ext uri="{FF2B5EF4-FFF2-40B4-BE49-F238E27FC236}">
                    <a16:creationId xmlns:a16="http://schemas.microsoft.com/office/drawing/2014/main" id="{3B451B4C-188B-4489-982E-0CC73C64D991}"/>
                  </a:ext>
                </a:extLst>
              </p:cNvPr>
              <p:cNvSpPr/>
              <p:nvPr/>
            </p:nvSpPr>
            <p:spPr>
              <a:xfrm>
                <a:off x="4626700" y="3287635"/>
                <a:ext cx="1080000" cy="1440000"/>
              </a:xfrm>
              <a:prstGeom prst="roundRect">
                <a:avLst/>
              </a:prstGeom>
              <a:solidFill>
                <a:schemeClr val="tx2">
                  <a:lumMod val="50000"/>
                </a:schemeClr>
              </a:solidFill>
              <a:ln w="19050"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Main</a:t>
                </a:r>
                <a:endParaRPr lang="en-US" altLang="ko-KR" sz="140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35915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</TotalTime>
  <Words>597</Words>
  <Application>Microsoft Office PowerPoint</Application>
  <PresentationFormat>와이드스크린</PresentationFormat>
  <Paragraphs>84</Paragraphs>
  <Slides>9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6" baseType="lpstr">
      <vt:lpstr>나눔스퀘어_ac</vt:lpstr>
      <vt:lpstr>나눔스퀘어_ac Bold</vt:lpstr>
      <vt:lpstr>나눔스퀘어_ac ExtraBold</vt:lpstr>
      <vt:lpstr>맑은 고딕</vt:lpstr>
      <vt:lpstr>배스킨라빈스 B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Sung Hyun</dc:creator>
  <cp:lastModifiedBy>Sung Hyun</cp:lastModifiedBy>
  <cp:revision>175</cp:revision>
  <dcterms:created xsi:type="dcterms:W3CDTF">2026-05-22T00:17:42Z</dcterms:created>
  <dcterms:modified xsi:type="dcterms:W3CDTF">2026-06-01T02:27:33Z</dcterms:modified>
</cp:coreProperties>
</file>